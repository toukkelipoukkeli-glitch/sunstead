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'Every vibe-coded app is born on someone else's backend — Supabase, Neon, Upstash. Those defaults are worth fortunes. Aiven runs the same managed Postgres, Kafka, Valkey and OpenSearch underneath — but nothing carries those apps over. So we built the switchboard that does.' Five agents, two clicks, the whole stack onto Aiven.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Lovable, Bolt and v0 default to Supabase, Neon, Upstash. That default is worth a fortune — Supabase alone is a $10.5B company. Aiven runs the same managed engines — Postgres, Kafka, Valkey, OpenSearch — but captures none of this market, because nothing carries those apps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Point Switchboard at a repo, two clicks, five agents run with nothing in between — every step through the Aiven MCP. It detects whatever backend services the app uses, maps each to its Aiven equivalent, provisions, migrates schema + auth, rewrites the client, and reports what's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switchboard. It's not Supabase-specific and it's not just the database. It routes every service an app uses to its Aiven equivalent: Postgres from Supabase or Neon to Aiven for PostgreSQL; Redis from Upstash to Aiven for Valkey; Kafka from Confluent to Aiven for Apache Kafka; Elastic to Aiven for OpenSearch; analytics to ClickHouse. The whole stack, onto Aiven.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generalizes. Under every managed backend is open source. Supabase is Postgres. Upstash is Redis. Confluent is Kafka. Aiven already runs all of them, managed. 80% — schema, data, config — transfers verbatim. The proprietary 20% is a thin, generatable layer. So every service is the same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real — proven on the hardest case. On 2026-06-25 the crew migrated PulseBoard onto a real Aiven for PostgreSQL service, every statement through the Aiven MCP. Postgres carries the most proprietary surface — auth and RLS — so if it migrates cleanly, Kafka, Valkey and OpenSearch are easier. Five tables, six RLS policies, pgcrypto verified live, a +640/-119 codemod that actually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where it goes. Today Switchboard moves the backend and generates an API that's ready for Aiven Apps. The day Aiven launches app hosting, the same crew migrates the entire app — frontend, API and every service — onto Aiven. Every existing vibe-coded app becomes one migration away from running 100% on Aiven.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payload — what Aiven should build. Four managed pieces close the gap to one-click migration from anywhere: object storage with an S3 API, managed auth (hosted GoTrue on Aiven Postgres), managed realtime via a Postgres-changes-to-Kafka bridge, and an MCP migrate command. Ship those and every app is a migration away from Aiven.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Supabase, Neon and Upstash own the defaults because they're the default. Switchboard makes Aiven the destination — for the whole stack. Proven on Postgres today; every service, and the app itself,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AIVEN CHALLENGE · SUNSTEAD HACK 2026</a:t>
            </a:r>
            <a:endParaRPr lang="en-US" sz="1050" dirty="0"/>
          </a:p>
        </p:txBody>
      </p:sp>
      <p:sp>
        <p:nvSpPr>
          <p:cNvPr id="5" name="Text 2"/>
          <p:cNvSpPr/>
          <p:nvPr/>
        </p:nvSpPr>
        <p:spPr>
          <a:xfrm>
            <a:off x="530352" y="1097280"/>
            <a:ext cx="822960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Switchboard</a:t>
            </a:r>
            <a:endParaRPr lang="en-US" sz="6000" dirty="0"/>
          </a:p>
        </p:txBody>
      </p:sp>
      <p:sp>
        <p:nvSpPr>
          <p:cNvPr id="6" name="Text 3"/>
          <p:cNvSpPr/>
          <p:nvPr/>
        </p:nvSpPr>
        <p:spPr>
          <a:xfrm>
            <a:off x="548640" y="1993392"/>
            <a:ext cx="8229600" cy="457200"/>
          </a:xfrm>
          <a:prstGeom prst="rect">
            <a:avLst/>
          </a:prstGeom>
          <a:noFill/>
          <a:ln/>
        </p:spPr>
        <p:txBody>
          <a:bodyPr wrap="square" lIns="0" tIns="0" rIns="0" bIns="0" rtlCol="0" anchor="ctr"/>
          <a:lstStyle/>
          <a:p>
            <a:pPr indent="0" marL="0">
              <a:buNone/>
            </a:pPr>
            <a:r>
              <a:rPr lang="en-US" sz="2000" b="1" spc="100" kern="0" dirty="0">
                <a:solidFill>
                  <a:srgbClr val="5FFA74"/>
                </a:solidFill>
                <a:latin typeface="Courier New" pitchFamily="34" charset="0"/>
                <a:ea typeface="Courier New" pitchFamily="34" charset="-122"/>
                <a:cs typeface="Courier New" pitchFamily="34" charset="-120"/>
              </a:rPr>
              <a:t>Vibe Deploy</a:t>
            </a:r>
            <a:endParaRPr lang="en-US" sz="2000" dirty="0"/>
          </a:p>
        </p:txBody>
      </p:sp>
      <p:sp>
        <p:nvSpPr>
          <p:cNvPr id="7" name="Text 4"/>
          <p:cNvSpPr/>
          <p:nvPr/>
        </p:nvSpPr>
        <p:spPr>
          <a:xfrm>
            <a:off x="548640" y="2578608"/>
            <a:ext cx="7863840" cy="548640"/>
          </a:xfrm>
          <a:prstGeom prst="rect">
            <a:avLst/>
          </a:prstGeom>
          <a:noFill/>
          <a:ln/>
        </p:spPr>
        <p:txBody>
          <a:bodyPr wrap="square" lIns="0" tIns="0" rIns="0" bIns="0" rtlCol="0" anchor="ctr"/>
          <a:lstStyle/>
          <a:p>
            <a:pPr indent="0" marL="0">
              <a:lnSpc>
                <a:spcPct val="115000"/>
              </a:lnSpc>
              <a:buNone/>
            </a:pPr>
            <a:r>
              <a:rPr lang="en-US" sz="1700" dirty="0">
                <a:solidFill>
                  <a:srgbClr val="C9CDD4"/>
                </a:solidFill>
                <a:latin typeface="Arial" pitchFamily="34" charset="0"/>
                <a:ea typeface="Arial" pitchFamily="34" charset="-122"/>
                <a:cs typeface="Arial" pitchFamily="34" charset="-120"/>
              </a:rPr>
              <a:t>Move any vibe-coded app's entire backend onto Aiven — autonomously, through the MCP.</a:t>
            </a:r>
            <a:endParaRPr lang="en-US" sz="1700" dirty="0"/>
          </a:p>
        </p:txBody>
      </p:sp>
      <p:sp>
        <p:nvSpPr>
          <p:cNvPr id="8" name="Text 5"/>
          <p:cNvSpPr/>
          <p:nvPr/>
        </p:nvSpPr>
        <p:spPr>
          <a:xfrm>
            <a:off x="548640" y="3739896"/>
            <a:ext cx="1554480" cy="292608"/>
          </a:xfrm>
          <a:prstGeom prst="rect">
            <a:avLst/>
          </a:prstGeom>
          <a:noFill/>
          <a:ln/>
        </p:spPr>
        <p:txBody>
          <a:bodyPr wrap="square" lIns="0" tIns="0" rIns="0" bIns="0" rtlCol="0" anchor="ctr"/>
          <a:lstStyle/>
          <a:p>
            <a:pPr indent="0" marL="0">
              <a:buNone/>
            </a:pPr>
            <a:r>
              <a:rPr lang="en-US" sz="1100" spc="100" kern="0" dirty="0">
                <a:solidFill>
                  <a:srgbClr val="8C919A"/>
                </a:solidFill>
                <a:latin typeface="Courier New" pitchFamily="34" charset="0"/>
                <a:ea typeface="Courier New" pitchFamily="34" charset="-122"/>
                <a:cs typeface="Courier New" pitchFamily="34" charset="-120"/>
              </a:rPr>
              <a:t>ANY BACKEND</a:t>
            </a:r>
            <a:endParaRPr lang="en-US" sz="1100" dirty="0"/>
          </a:p>
        </p:txBody>
      </p:sp>
      <p:sp>
        <p:nvSpPr>
          <p:cNvPr id="9" name="Shape 6"/>
          <p:cNvSpPr/>
          <p:nvPr/>
        </p:nvSpPr>
        <p:spPr>
          <a:xfrm>
            <a:off x="2331720" y="3886200"/>
            <a:ext cx="3931920" cy="0"/>
          </a:xfrm>
          <a:prstGeom prst="line">
            <a:avLst/>
          </a:prstGeom>
          <a:noFill/>
          <a:ln w="19050">
            <a:solidFill>
              <a:srgbClr val="23282F"/>
            </a:solidFill>
            <a:prstDash val="solid"/>
          </a:ln>
        </p:spPr>
      </p:sp>
      <p:sp>
        <p:nvSpPr>
          <p:cNvPr id="10" name="Shape 7"/>
          <p:cNvSpPr/>
          <p:nvPr/>
        </p:nvSpPr>
        <p:spPr>
          <a:xfrm>
            <a:off x="2258568" y="3813048"/>
            <a:ext cx="146304" cy="146304"/>
          </a:xfrm>
          <a:prstGeom prst="ellipse">
            <a:avLst/>
          </a:prstGeom>
          <a:solidFill>
            <a:srgbClr val="6F64FF"/>
          </a:solidFill>
          <a:ln w="19050">
            <a:solidFill>
              <a:srgbClr val="05080F"/>
            </a:solidFill>
            <a:prstDash val="solid"/>
          </a:ln>
        </p:spPr>
      </p:sp>
      <p:sp>
        <p:nvSpPr>
          <p:cNvPr id="11" name="Shape 8"/>
          <p:cNvSpPr/>
          <p:nvPr/>
        </p:nvSpPr>
        <p:spPr>
          <a:xfrm>
            <a:off x="3012948" y="3813048"/>
            <a:ext cx="146304" cy="146304"/>
          </a:xfrm>
          <a:prstGeom prst="ellipse">
            <a:avLst/>
          </a:prstGeom>
          <a:solidFill>
            <a:srgbClr val="F85149"/>
          </a:solidFill>
          <a:ln w="19050">
            <a:solidFill>
              <a:srgbClr val="05080F"/>
            </a:solidFill>
            <a:prstDash val="solid"/>
          </a:ln>
        </p:spPr>
      </p:sp>
      <p:sp>
        <p:nvSpPr>
          <p:cNvPr id="12" name="Shape 9"/>
          <p:cNvSpPr/>
          <p:nvPr/>
        </p:nvSpPr>
        <p:spPr>
          <a:xfrm>
            <a:off x="3767328" y="3813048"/>
            <a:ext cx="146304" cy="146304"/>
          </a:xfrm>
          <a:prstGeom prst="ellipse">
            <a:avLst/>
          </a:prstGeom>
          <a:solidFill>
            <a:srgbClr val="DF56F2"/>
          </a:solidFill>
          <a:ln w="19050">
            <a:solidFill>
              <a:srgbClr val="05080F"/>
            </a:solidFill>
            <a:prstDash val="solid"/>
          </a:ln>
        </p:spPr>
      </p:sp>
      <p:sp>
        <p:nvSpPr>
          <p:cNvPr id="13" name="Shape 10"/>
          <p:cNvSpPr/>
          <p:nvPr/>
        </p:nvSpPr>
        <p:spPr>
          <a:xfrm>
            <a:off x="4521708" y="3813048"/>
            <a:ext cx="146304" cy="146304"/>
          </a:xfrm>
          <a:prstGeom prst="ellipse">
            <a:avLst/>
          </a:prstGeom>
          <a:solidFill>
            <a:srgbClr val="2ED0CD"/>
          </a:solidFill>
          <a:ln w="19050">
            <a:solidFill>
              <a:srgbClr val="05080F"/>
            </a:solidFill>
            <a:prstDash val="solid"/>
          </a:ln>
        </p:spPr>
      </p:sp>
      <p:sp>
        <p:nvSpPr>
          <p:cNvPr id="14" name="Shape 11"/>
          <p:cNvSpPr/>
          <p:nvPr/>
        </p:nvSpPr>
        <p:spPr>
          <a:xfrm>
            <a:off x="5276088" y="3813048"/>
            <a:ext cx="146304" cy="146304"/>
          </a:xfrm>
          <a:prstGeom prst="ellipse">
            <a:avLst/>
          </a:prstGeom>
          <a:solidFill>
            <a:srgbClr val="FDCD12"/>
          </a:solidFill>
          <a:ln w="19050">
            <a:solidFill>
              <a:srgbClr val="05080F"/>
            </a:solidFill>
            <a:prstDash val="solid"/>
          </a:ln>
        </p:spPr>
      </p:sp>
      <p:sp>
        <p:nvSpPr>
          <p:cNvPr id="15" name="Shape 12"/>
          <p:cNvSpPr/>
          <p:nvPr/>
        </p:nvSpPr>
        <p:spPr>
          <a:xfrm>
            <a:off x="6263640" y="3648456"/>
            <a:ext cx="1417320" cy="475488"/>
          </a:xfrm>
          <a:prstGeom prst="roundRect">
            <a:avLst>
              <a:gd name="adj" fmla="val 50000"/>
            </a:avLst>
          </a:prstGeom>
          <a:solidFill>
            <a:srgbClr val="5FFA74"/>
          </a:solidFill>
          <a:ln/>
        </p:spPr>
      </p:sp>
      <p:sp>
        <p:nvSpPr>
          <p:cNvPr id="16" name="Text 13"/>
          <p:cNvSpPr/>
          <p:nvPr/>
        </p:nvSpPr>
        <p:spPr>
          <a:xfrm>
            <a:off x="6263640" y="3648456"/>
            <a:ext cx="1417320" cy="475488"/>
          </a:xfrm>
          <a:prstGeom prst="rect">
            <a:avLst/>
          </a:prstGeom>
          <a:noFill/>
          <a:ln/>
        </p:spPr>
        <p:txBody>
          <a:bodyPr wrap="square" lIns="0" tIns="0" rIns="0" bIns="0" rtlCol="0" anchor="ctr"/>
          <a:lstStyle/>
          <a:p>
            <a:pPr algn="ctr" indent="0" marL="0">
              <a:buNone/>
            </a:pPr>
            <a:r>
              <a:rPr lang="en-US" sz="1500" b="1" spc="100" kern="0" dirty="0">
                <a:solidFill>
                  <a:srgbClr val="05080F"/>
                </a:solidFill>
                <a:latin typeface="Arial" pitchFamily="34" charset="0"/>
                <a:ea typeface="Arial" pitchFamily="34" charset="-122"/>
                <a:cs typeface="Arial" pitchFamily="34" charset="-120"/>
              </a:rPr>
              <a:t>AIVEN</a:t>
            </a:r>
            <a:endParaRPr lang="en-US" sz="1500" dirty="0"/>
          </a:p>
        </p:txBody>
      </p:sp>
      <p:sp>
        <p:nvSpPr>
          <p:cNvPr id="17" name="Text 14"/>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Postgres · Kafka · Valkey · OpenSearch — every statement through the Aiven MCP</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THE PROBLEM</a:t>
            </a:r>
            <a:endParaRPr lang="en-US" sz="1050" dirty="0"/>
          </a:p>
        </p:txBody>
      </p:sp>
      <p:sp>
        <p:nvSpPr>
          <p:cNvPr id="5" name="Text 2"/>
          <p:cNvSpPr/>
          <p:nvPr/>
        </p:nvSpPr>
        <p:spPr>
          <a:xfrm>
            <a:off x="548640" y="1024128"/>
            <a:ext cx="4800600" cy="1463040"/>
          </a:xfrm>
          <a:prstGeom prst="rect">
            <a:avLst/>
          </a:prstGeom>
          <a:noFill/>
          <a:ln/>
        </p:spPr>
        <p:txBody>
          <a:bodyPr wrap="square" lIns="0" tIns="0" rIns="0" bIns="0" rtlCol="0" anchor="ctr"/>
          <a:lstStyle/>
          <a:p>
            <a:pPr indent="0" marL="0">
              <a:lnSpc>
                <a:spcPct val="104000"/>
              </a:lnSpc>
              <a:buNone/>
            </a:pPr>
            <a:r>
              <a:rPr lang="en-US" sz="3200" b="1" dirty="0">
                <a:solidFill>
                  <a:srgbClr val="FFFFFF"/>
                </a:solidFill>
                <a:latin typeface="Arial" pitchFamily="34" charset="0"/>
                <a:ea typeface="Arial" pitchFamily="34" charset="-122"/>
                <a:cs typeface="Arial" pitchFamily="34" charset="-120"/>
              </a:rPr>
              <a:t>Every app is born on someone else's backend.</a:t>
            </a:r>
            <a:endParaRPr lang="en-US" sz="3200" dirty="0"/>
          </a:p>
        </p:txBody>
      </p:sp>
      <p:sp>
        <p:nvSpPr>
          <p:cNvPr id="6" name="Text 3"/>
          <p:cNvSpPr/>
          <p:nvPr/>
        </p:nvSpPr>
        <p:spPr>
          <a:xfrm>
            <a:off x="548640" y="2880360"/>
            <a:ext cx="4709160" cy="1554480"/>
          </a:xfrm>
          <a:prstGeom prst="rect">
            <a:avLst/>
          </a:prstGeom>
          <a:noFill/>
          <a:ln/>
        </p:spPr>
        <p:txBody>
          <a:bodyPr wrap="square" lIns="0" tIns="0" rIns="0" bIns="0" rtlCol="0" anchor="ctr"/>
          <a:lstStyle/>
          <a:p>
            <a:pPr indent="0" marL="0">
              <a:lnSpc>
                <a:spcPct val="125000"/>
              </a:lnSpc>
              <a:buNone/>
            </a:pPr>
            <a:r>
              <a:rPr lang="en-US" sz="1500" dirty="0">
                <a:solidFill>
                  <a:srgbClr val="C9CDD4"/>
                </a:solidFill>
                <a:latin typeface="Arial" pitchFamily="34" charset="0"/>
                <a:ea typeface="Arial" pitchFamily="34" charset="-122"/>
                <a:cs typeface="Arial" pitchFamily="34" charset="-120"/>
              </a:rPr>
              <a:t>Lovable, Bolt and v0 default to Supabase, Neon and Upstash. Aiven runs the same managed Postgres, Kafka, Valkey and OpenSearch underneath — but nothing carries those apps over.</a:t>
            </a:r>
            <a:endParaRPr lang="en-US" sz="1500" dirty="0"/>
          </a:p>
        </p:txBody>
      </p:sp>
      <p:sp>
        <p:nvSpPr>
          <p:cNvPr id="7" name="Shape 4"/>
          <p:cNvSpPr/>
          <p:nvPr/>
        </p:nvSpPr>
        <p:spPr>
          <a:xfrm>
            <a:off x="5715000" y="1024128"/>
            <a:ext cx="2880360" cy="1417320"/>
          </a:xfrm>
          <a:prstGeom prst="roundRect">
            <a:avLst>
              <a:gd name="adj" fmla="val 5806"/>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8" name="Text 5"/>
          <p:cNvSpPr/>
          <p:nvPr/>
        </p:nvSpPr>
        <p:spPr>
          <a:xfrm>
            <a:off x="5715000" y="1170432"/>
            <a:ext cx="2880360" cy="731520"/>
          </a:xfrm>
          <a:prstGeom prst="rect">
            <a:avLst/>
          </a:prstGeom>
          <a:noFill/>
          <a:ln/>
        </p:spPr>
        <p:txBody>
          <a:bodyPr wrap="square" lIns="0" tIns="0" rIns="0" bIns="0" rtlCol="0" anchor="ctr"/>
          <a:lstStyle/>
          <a:p>
            <a:pPr algn="ctr" indent="0" marL="0">
              <a:buNone/>
            </a:pPr>
            <a:r>
              <a:rPr lang="en-US" sz="4400" b="1" dirty="0">
                <a:solidFill>
                  <a:srgbClr val="5FFA74"/>
                </a:solidFill>
                <a:latin typeface="Arial" pitchFamily="34" charset="0"/>
                <a:ea typeface="Arial" pitchFamily="34" charset="-122"/>
                <a:cs typeface="Arial" pitchFamily="34" charset="-120"/>
              </a:rPr>
              <a:t>$10.5B</a:t>
            </a:r>
            <a:endParaRPr lang="en-US" sz="4400" dirty="0"/>
          </a:p>
        </p:txBody>
      </p:sp>
      <p:sp>
        <p:nvSpPr>
          <p:cNvPr id="9" name="Text 6"/>
          <p:cNvSpPr/>
          <p:nvPr/>
        </p:nvSpPr>
        <p:spPr>
          <a:xfrm>
            <a:off x="5897880" y="1901952"/>
            <a:ext cx="2514600" cy="457200"/>
          </a:xfrm>
          <a:prstGeom prst="rect">
            <a:avLst/>
          </a:prstGeom>
          <a:noFill/>
          <a:ln/>
        </p:spPr>
        <p:txBody>
          <a:bodyPr wrap="square" lIns="0" tIns="0" rIns="0" bIns="0" rtlCol="0" anchor="ctr"/>
          <a:lstStyle/>
          <a:p>
            <a:pPr algn="ctr" indent="0" marL="0">
              <a:lnSpc>
                <a:spcPct val="110000"/>
              </a:lnSpc>
              <a:buNone/>
            </a:pPr>
            <a:r>
              <a:rPr lang="en-US" sz="1200" dirty="0">
                <a:solidFill>
                  <a:srgbClr val="8C919A"/>
                </a:solidFill>
                <a:latin typeface="Arial" pitchFamily="34" charset="0"/>
                <a:ea typeface="Arial" pitchFamily="34" charset="-122"/>
                <a:cs typeface="Arial" pitchFamily="34" charset="-120"/>
              </a:rPr>
              <a:t>one default's valuation (Supabase)</a:t>
            </a:r>
            <a:endParaRPr lang="en-US" sz="1200" dirty="0"/>
          </a:p>
        </p:txBody>
      </p:sp>
      <p:sp>
        <p:nvSpPr>
          <p:cNvPr id="10" name="Shape 7"/>
          <p:cNvSpPr/>
          <p:nvPr/>
        </p:nvSpPr>
        <p:spPr>
          <a:xfrm>
            <a:off x="5715000" y="2624328"/>
            <a:ext cx="2880360" cy="1417320"/>
          </a:xfrm>
          <a:prstGeom prst="roundRect">
            <a:avLst>
              <a:gd name="adj" fmla="val 5806"/>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11" name="Text 8"/>
          <p:cNvSpPr/>
          <p:nvPr/>
        </p:nvSpPr>
        <p:spPr>
          <a:xfrm>
            <a:off x="5715000" y="2770632"/>
            <a:ext cx="2880360" cy="731520"/>
          </a:xfrm>
          <a:prstGeom prst="rect">
            <a:avLst/>
          </a:prstGeom>
          <a:noFill/>
          <a:ln/>
        </p:spPr>
        <p:txBody>
          <a:bodyPr wrap="square" lIns="0" tIns="0" rIns="0" bIns="0" rtlCol="0" anchor="ctr"/>
          <a:lstStyle/>
          <a:p>
            <a:pPr algn="ctr" indent="0" marL="0">
              <a:buNone/>
            </a:pPr>
            <a:r>
              <a:rPr lang="en-US" sz="4400" b="1" dirty="0">
                <a:solidFill>
                  <a:srgbClr val="F85149"/>
                </a:solidFill>
                <a:latin typeface="Arial" pitchFamily="34" charset="0"/>
                <a:ea typeface="Arial" pitchFamily="34" charset="-122"/>
                <a:cs typeface="Arial" pitchFamily="34" charset="-120"/>
              </a:rPr>
              <a:t>0%</a:t>
            </a:r>
            <a:endParaRPr lang="en-US" sz="4400" dirty="0"/>
          </a:p>
        </p:txBody>
      </p:sp>
      <p:sp>
        <p:nvSpPr>
          <p:cNvPr id="12" name="Text 9"/>
          <p:cNvSpPr/>
          <p:nvPr/>
        </p:nvSpPr>
        <p:spPr>
          <a:xfrm>
            <a:off x="5897880" y="3502152"/>
            <a:ext cx="2514600" cy="457200"/>
          </a:xfrm>
          <a:prstGeom prst="rect">
            <a:avLst/>
          </a:prstGeom>
          <a:noFill/>
          <a:ln/>
        </p:spPr>
        <p:txBody>
          <a:bodyPr wrap="square" lIns="0" tIns="0" rIns="0" bIns="0" rtlCol="0" anchor="ctr"/>
          <a:lstStyle/>
          <a:p>
            <a:pPr algn="ctr" indent="0" marL="0">
              <a:lnSpc>
                <a:spcPct val="110000"/>
              </a:lnSpc>
              <a:buNone/>
            </a:pPr>
            <a:r>
              <a:rPr lang="en-US" sz="1200" dirty="0">
                <a:solidFill>
                  <a:srgbClr val="8C919A"/>
                </a:solidFill>
                <a:latin typeface="Arial" pitchFamily="34" charset="0"/>
                <a:ea typeface="Arial" pitchFamily="34" charset="-122"/>
                <a:cs typeface="Arial" pitchFamily="34" charset="-120"/>
              </a:rPr>
              <a:t>of that market captured by Aiven today</a:t>
            </a:r>
            <a:endParaRPr lang="en-US" sz="1200" dirty="0"/>
          </a:p>
        </p:txBody>
      </p:sp>
      <p:sp>
        <p:nvSpPr>
          <p:cNvPr id="13" name="Text 10"/>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the same engines. none of the apps.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THE PRODUCT</a:t>
            </a:r>
            <a:endParaRPr lang="en-US" sz="1050" dirty="0"/>
          </a:p>
        </p:txBody>
      </p:sp>
      <p:sp>
        <p:nvSpPr>
          <p:cNvPr id="5" name="Text 2"/>
          <p:cNvSpPr/>
          <p:nvPr/>
        </p:nvSpPr>
        <p:spPr>
          <a:xfrm>
            <a:off x="548640" y="822960"/>
            <a:ext cx="8046720" cy="548640"/>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Point it at a repo. Two clicks. Five agents.</a:t>
            </a:r>
            <a:endParaRPr lang="en-US" sz="3100" dirty="0"/>
          </a:p>
        </p:txBody>
      </p:sp>
      <p:sp>
        <p:nvSpPr>
          <p:cNvPr id="6" name="Text 3"/>
          <p:cNvSpPr/>
          <p:nvPr/>
        </p:nvSpPr>
        <p:spPr>
          <a:xfrm>
            <a:off x="548640" y="1389888"/>
            <a:ext cx="8046720" cy="365760"/>
          </a:xfrm>
          <a:prstGeom prst="rect">
            <a:avLst/>
          </a:prstGeom>
          <a:noFill/>
          <a:ln/>
        </p:spPr>
        <p:txBody>
          <a:bodyPr wrap="square" lIns="0" tIns="0" rIns="0" bIns="0" rtlCol="0" anchor="ctr"/>
          <a:lstStyle/>
          <a:p>
            <a:pPr indent="0" marL="0">
              <a:buNone/>
            </a:pPr>
            <a:r>
              <a:rPr lang="en-US" sz="1400" dirty="0">
                <a:solidFill>
                  <a:srgbClr val="C9CDD4"/>
                </a:solidFill>
                <a:latin typeface="Arial" pitchFamily="34" charset="0"/>
                <a:ea typeface="Arial" pitchFamily="34" charset="-122"/>
                <a:cs typeface="Arial" pitchFamily="34" charset="-120"/>
              </a:rPr>
              <a:t>An agent crew that maps every backend service to its Aiven equivalent and migrates it — every statement through the Aiven MCP.</a:t>
            </a:r>
            <a:endParaRPr lang="en-US" sz="1400" dirty="0"/>
          </a:p>
        </p:txBody>
      </p:sp>
      <p:sp>
        <p:nvSpPr>
          <p:cNvPr id="7" name="Shape 4"/>
          <p:cNvSpPr/>
          <p:nvPr/>
        </p:nvSpPr>
        <p:spPr>
          <a:xfrm>
            <a:off x="868680" y="2185416"/>
            <a:ext cx="0" cy="2139696"/>
          </a:xfrm>
          <a:prstGeom prst="line">
            <a:avLst/>
          </a:prstGeom>
          <a:noFill/>
          <a:ln w="19050">
            <a:solidFill>
              <a:srgbClr val="23282F"/>
            </a:solidFill>
            <a:prstDash val="solid"/>
          </a:ln>
        </p:spPr>
      </p:sp>
      <p:sp>
        <p:nvSpPr>
          <p:cNvPr id="8" name="Shape 5"/>
          <p:cNvSpPr/>
          <p:nvPr/>
        </p:nvSpPr>
        <p:spPr>
          <a:xfrm>
            <a:off x="658368" y="1975104"/>
            <a:ext cx="420624" cy="420624"/>
          </a:xfrm>
          <a:prstGeom prst="ellipse">
            <a:avLst/>
          </a:prstGeom>
          <a:solidFill>
            <a:srgbClr val="5FFA74"/>
          </a:solidFill>
          <a:ln w="25400">
            <a:solidFill>
              <a:srgbClr val="05080F"/>
            </a:solidFill>
            <a:prstDash val="solid"/>
          </a:ln>
        </p:spPr>
      </p:sp>
      <p:sp>
        <p:nvSpPr>
          <p:cNvPr id="9" name="Text 6"/>
          <p:cNvSpPr/>
          <p:nvPr/>
        </p:nvSpPr>
        <p:spPr>
          <a:xfrm>
            <a:off x="658368" y="1975104"/>
            <a:ext cx="420624" cy="420624"/>
          </a:xfrm>
          <a:prstGeom prst="rect">
            <a:avLst/>
          </a:prstGeom>
          <a:noFill/>
          <a:ln/>
        </p:spPr>
        <p:txBody>
          <a:bodyPr wrap="square" lIns="0" tIns="0" rIns="0" bIns="0" rtlCol="0" anchor="ctr"/>
          <a:lstStyle/>
          <a:p>
            <a:pPr algn="ctr" indent="0" marL="0">
              <a:buNone/>
            </a:pPr>
            <a:r>
              <a:rPr lang="en-US" sz="1500" b="1" dirty="0">
                <a:solidFill>
                  <a:srgbClr val="05080F"/>
                </a:solidFill>
                <a:latin typeface="Arial" pitchFamily="34" charset="0"/>
                <a:ea typeface="Arial" pitchFamily="34" charset="-122"/>
                <a:cs typeface="Arial" pitchFamily="34" charset="-120"/>
              </a:rPr>
              <a:t>1</a:t>
            </a:r>
            <a:endParaRPr lang="en-US" sz="1500" dirty="0"/>
          </a:p>
        </p:txBody>
      </p:sp>
      <p:sp>
        <p:nvSpPr>
          <p:cNvPr id="10" name="Text 7"/>
          <p:cNvSpPr/>
          <p:nvPr/>
        </p:nvSpPr>
        <p:spPr>
          <a:xfrm>
            <a:off x="1234440" y="1929384"/>
            <a:ext cx="7315200" cy="512064"/>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Arial" pitchFamily="34" charset="0"/>
                <a:ea typeface="Arial" pitchFamily="34" charset="-122"/>
                <a:cs typeface="Arial" pitchFamily="34" charset="-120"/>
              </a:rPr>
              <a:t>Code Analyzer  </a:t>
            </a:r>
            <a:pPr indent="0" marL="0">
              <a:lnSpc>
                <a:spcPct val="100000"/>
              </a:lnSpc>
              <a:buNone/>
            </a:pPr>
            <a:r>
              <a:rPr lang="en-US" sz="1400" dirty="0">
                <a:solidFill>
                  <a:srgbClr val="C9CDD4"/>
                </a:solidFill>
                <a:latin typeface="Arial" pitchFamily="34" charset="0"/>
                <a:ea typeface="Arial" pitchFamily="34" charset="-122"/>
                <a:cs typeface="Arial" pitchFamily="34" charset="-120"/>
              </a:rPr>
              <a:t>finds every backend SDK call and reads the schema &amp; config</a:t>
            </a:r>
            <a:endParaRPr lang="en-US" sz="1400" dirty="0"/>
          </a:p>
        </p:txBody>
      </p:sp>
      <p:sp>
        <p:nvSpPr>
          <p:cNvPr id="11" name="Shape 8"/>
          <p:cNvSpPr/>
          <p:nvPr/>
        </p:nvSpPr>
        <p:spPr>
          <a:xfrm>
            <a:off x="658368" y="2510028"/>
            <a:ext cx="420624" cy="420624"/>
          </a:xfrm>
          <a:prstGeom prst="ellipse">
            <a:avLst/>
          </a:prstGeom>
          <a:solidFill>
            <a:srgbClr val="5FFA74"/>
          </a:solidFill>
          <a:ln w="25400">
            <a:solidFill>
              <a:srgbClr val="05080F"/>
            </a:solidFill>
            <a:prstDash val="solid"/>
          </a:ln>
        </p:spPr>
      </p:sp>
      <p:sp>
        <p:nvSpPr>
          <p:cNvPr id="12" name="Text 9"/>
          <p:cNvSpPr/>
          <p:nvPr/>
        </p:nvSpPr>
        <p:spPr>
          <a:xfrm>
            <a:off x="658368" y="2510028"/>
            <a:ext cx="420624" cy="420624"/>
          </a:xfrm>
          <a:prstGeom prst="rect">
            <a:avLst/>
          </a:prstGeom>
          <a:noFill/>
          <a:ln/>
        </p:spPr>
        <p:txBody>
          <a:bodyPr wrap="square" lIns="0" tIns="0" rIns="0" bIns="0" rtlCol="0" anchor="ctr"/>
          <a:lstStyle/>
          <a:p>
            <a:pPr algn="ctr" indent="0" marL="0">
              <a:buNone/>
            </a:pPr>
            <a:r>
              <a:rPr lang="en-US" sz="1500" b="1" dirty="0">
                <a:solidFill>
                  <a:srgbClr val="05080F"/>
                </a:solidFill>
                <a:latin typeface="Arial" pitchFamily="34" charset="0"/>
                <a:ea typeface="Arial" pitchFamily="34" charset="-122"/>
                <a:cs typeface="Arial" pitchFamily="34" charset="-120"/>
              </a:rPr>
              <a:t>2</a:t>
            </a:r>
            <a:endParaRPr lang="en-US" sz="1500" dirty="0"/>
          </a:p>
        </p:txBody>
      </p:sp>
      <p:sp>
        <p:nvSpPr>
          <p:cNvPr id="13" name="Text 10"/>
          <p:cNvSpPr/>
          <p:nvPr/>
        </p:nvSpPr>
        <p:spPr>
          <a:xfrm>
            <a:off x="1234440" y="2464308"/>
            <a:ext cx="7315200" cy="512064"/>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Arial" pitchFamily="34" charset="0"/>
                <a:ea typeface="Arial" pitchFamily="34" charset="-122"/>
                <a:cs typeface="Arial" pitchFamily="34" charset="-120"/>
              </a:rPr>
              <a:t>Provisioner  </a:t>
            </a:r>
            <a:pPr indent="0" marL="0">
              <a:lnSpc>
                <a:spcPct val="100000"/>
              </a:lnSpc>
              <a:buNone/>
            </a:pPr>
            <a:r>
              <a:rPr lang="en-US" sz="1400" dirty="0">
                <a:solidFill>
                  <a:srgbClr val="C9CDD4"/>
                </a:solidFill>
                <a:latin typeface="Arial" pitchFamily="34" charset="0"/>
                <a:ea typeface="Arial" pitchFamily="34" charset="-122"/>
                <a:cs typeface="Arial" pitchFamily="34" charset="-120"/>
              </a:rPr>
              <a:t>spins up the matching Aiven services (PG, Kafka, Valkey…) via MCP</a:t>
            </a:r>
            <a:endParaRPr lang="en-US" sz="1400" dirty="0"/>
          </a:p>
        </p:txBody>
      </p:sp>
      <p:sp>
        <p:nvSpPr>
          <p:cNvPr id="14" name="Shape 11"/>
          <p:cNvSpPr/>
          <p:nvPr/>
        </p:nvSpPr>
        <p:spPr>
          <a:xfrm>
            <a:off x="658368" y="3044952"/>
            <a:ext cx="420624" cy="420624"/>
          </a:xfrm>
          <a:prstGeom prst="ellipse">
            <a:avLst/>
          </a:prstGeom>
          <a:solidFill>
            <a:srgbClr val="5FFA74"/>
          </a:solidFill>
          <a:ln w="25400">
            <a:solidFill>
              <a:srgbClr val="05080F"/>
            </a:solidFill>
            <a:prstDash val="solid"/>
          </a:ln>
        </p:spPr>
      </p:sp>
      <p:sp>
        <p:nvSpPr>
          <p:cNvPr id="15" name="Text 12"/>
          <p:cNvSpPr/>
          <p:nvPr/>
        </p:nvSpPr>
        <p:spPr>
          <a:xfrm>
            <a:off x="658368" y="3044952"/>
            <a:ext cx="420624" cy="420624"/>
          </a:xfrm>
          <a:prstGeom prst="rect">
            <a:avLst/>
          </a:prstGeom>
          <a:noFill/>
          <a:ln/>
        </p:spPr>
        <p:txBody>
          <a:bodyPr wrap="square" lIns="0" tIns="0" rIns="0" bIns="0" rtlCol="0" anchor="ctr"/>
          <a:lstStyle/>
          <a:p>
            <a:pPr algn="ctr" indent="0" marL="0">
              <a:buNone/>
            </a:pPr>
            <a:r>
              <a:rPr lang="en-US" sz="1500" b="1" dirty="0">
                <a:solidFill>
                  <a:srgbClr val="05080F"/>
                </a:solidFill>
                <a:latin typeface="Arial" pitchFamily="34" charset="0"/>
                <a:ea typeface="Arial" pitchFamily="34" charset="-122"/>
                <a:cs typeface="Arial" pitchFamily="34" charset="-120"/>
              </a:rPr>
              <a:t>3</a:t>
            </a:r>
            <a:endParaRPr lang="en-US" sz="1500" dirty="0"/>
          </a:p>
        </p:txBody>
      </p:sp>
      <p:sp>
        <p:nvSpPr>
          <p:cNvPr id="16" name="Text 13"/>
          <p:cNvSpPr/>
          <p:nvPr/>
        </p:nvSpPr>
        <p:spPr>
          <a:xfrm>
            <a:off x="1234440" y="2999232"/>
            <a:ext cx="7315200" cy="512064"/>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Arial" pitchFamily="34" charset="0"/>
                <a:ea typeface="Arial" pitchFamily="34" charset="-122"/>
                <a:cs typeface="Arial" pitchFamily="34" charset="-120"/>
              </a:rPr>
              <a:t>Schema Migrator  </a:t>
            </a:r>
            <a:pPr indent="0" marL="0">
              <a:lnSpc>
                <a:spcPct val="100000"/>
              </a:lnSpc>
              <a:buNone/>
            </a:pPr>
            <a:r>
              <a:rPr lang="en-US" sz="1400" dirty="0">
                <a:solidFill>
                  <a:srgbClr val="C9CDD4"/>
                </a:solidFill>
                <a:latin typeface="Arial" pitchFamily="34" charset="0"/>
                <a:ea typeface="Arial" pitchFamily="34" charset="-122"/>
                <a:cs typeface="Arial" pitchFamily="34" charset="-120"/>
              </a:rPr>
              <a:t>recreates tables, pgcrypto auth, indexes &amp; RLS as MCP SQL</a:t>
            </a:r>
            <a:endParaRPr lang="en-US" sz="1400" dirty="0"/>
          </a:p>
        </p:txBody>
      </p:sp>
      <p:sp>
        <p:nvSpPr>
          <p:cNvPr id="17" name="Shape 14"/>
          <p:cNvSpPr/>
          <p:nvPr/>
        </p:nvSpPr>
        <p:spPr>
          <a:xfrm>
            <a:off x="658368" y="3579876"/>
            <a:ext cx="420624" cy="420624"/>
          </a:xfrm>
          <a:prstGeom prst="ellipse">
            <a:avLst/>
          </a:prstGeom>
          <a:solidFill>
            <a:srgbClr val="5FFA74"/>
          </a:solidFill>
          <a:ln w="25400">
            <a:solidFill>
              <a:srgbClr val="05080F"/>
            </a:solidFill>
            <a:prstDash val="solid"/>
          </a:ln>
        </p:spPr>
      </p:sp>
      <p:sp>
        <p:nvSpPr>
          <p:cNvPr id="18" name="Text 15"/>
          <p:cNvSpPr/>
          <p:nvPr/>
        </p:nvSpPr>
        <p:spPr>
          <a:xfrm>
            <a:off x="658368" y="3579876"/>
            <a:ext cx="420624" cy="420624"/>
          </a:xfrm>
          <a:prstGeom prst="rect">
            <a:avLst/>
          </a:prstGeom>
          <a:noFill/>
          <a:ln/>
        </p:spPr>
        <p:txBody>
          <a:bodyPr wrap="square" lIns="0" tIns="0" rIns="0" bIns="0" rtlCol="0" anchor="ctr"/>
          <a:lstStyle/>
          <a:p>
            <a:pPr algn="ctr" indent="0" marL="0">
              <a:buNone/>
            </a:pPr>
            <a:r>
              <a:rPr lang="en-US" sz="1500" b="1" dirty="0">
                <a:solidFill>
                  <a:srgbClr val="05080F"/>
                </a:solidFill>
                <a:latin typeface="Arial" pitchFamily="34" charset="0"/>
                <a:ea typeface="Arial" pitchFamily="34" charset="-122"/>
                <a:cs typeface="Arial" pitchFamily="34" charset="-120"/>
              </a:rPr>
              <a:t>4</a:t>
            </a:r>
            <a:endParaRPr lang="en-US" sz="1500" dirty="0"/>
          </a:p>
        </p:txBody>
      </p:sp>
      <p:sp>
        <p:nvSpPr>
          <p:cNvPr id="19" name="Text 16"/>
          <p:cNvSpPr/>
          <p:nvPr/>
        </p:nvSpPr>
        <p:spPr>
          <a:xfrm>
            <a:off x="1234440" y="3534156"/>
            <a:ext cx="7315200" cy="512064"/>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Arial" pitchFamily="34" charset="0"/>
                <a:ea typeface="Arial" pitchFamily="34" charset="-122"/>
                <a:cs typeface="Arial" pitchFamily="34" charset="-120"/>
              </a:rPr>
              <a:t>Code Rewriter  </a:t>
            </a:r>
            <a:pPr indent="0" marL="0">
              <a:lnSpc>
                <a:spcPct val="100000"/>
              </a:lnSpc>
              <a:buNone/>
            </a:pPr>
            <a:r>
              <a:rPr lang="en-US" sz="1400" dirty="0">
                <a:solidFill>
                  <a:srgbClr val="C9CDD4"/>
                </a:solidFill>
                <a:latin typeface="Arial" pitchFamily="34" charset="0"/>
                <a:ea typeface="Arial" pitchFamily="34" charset="-122"/>
                <a:cs typeface="Arial" pitchFamily="34" charset="-120"/>
              </a:rPr>
              <a:t>rewrites the client and generates a thin Aiven API</a:t>
            </a:r>
            <a:endParaRPr lang="en-US" sz="1400" dirty="0"/>
          </a:p>
        </p:txBody>
      </p:sp>
      <p:sp>
        <p:nvSpPr>
          <p:cNvPr id="20" name="Shape 17"/>
          <p:cNvSpPr/>
          <p:nvPr/>
        </p:nvSpPr>
        <p:spPr>
          <a:xfrm>
            <a:off x="658368" y="4114800"/>
            <a:ext cx="420624" cy="420624"/>
          </a:xfrm>
          <a:prstGeom prst="ellipse">
            <a:avLst/>
          </a:prstGeom>
          <a:solidFill>
            <a:srgbClr val="5FFA74"/>
          </a:solidFill>
          <a:ln w="25400">
            <a:solidFill>
              <a:srgbClr val="05080F"/>
            </a:solidFill>
            <a:prstDash val="solid"/>
          </a:ln>
        </p:spPr>
      </p:sp>
      <p:sp>
        <p:nvSpPr>
          <p:cNvPr id="21" name="Text 18"/>
          <p:cNvSpPr/>
          <p:nvPr/>
        </p:nvSpPr>
        <p:spPr>
          <a:xfrm>
            <a:off x="658368" y="4114800"/>
            <a:ext cx="420624" cy="420624"/>
          </a:xfrm>
          <a:prstGeom prst="rect">
            <a:avLst/>
          </a:prstGeom>
          <a:noFill/>
          <a:ln/>
        </p:spPr>
        <p:txBody>
          <a:bodyPr wrap="square" lIns="0" tIns="0" rIns="0" bIns="0" rtlCol="0" anchor="ctr"/>
          <a:lstStyle/>
          <a:p>
            <a:pPr algn="ctr" indent="0" marL="0">
              <a:buNone/>
            </a:pPr>
            <a:r>
              <a:rPr lang="en-US" sz="1500" b="1" dirty="0">
                <a:solidFill>
                  <a:srgbClr val="05080F"/>
                </a:solidFill>
                <a:latin typeface="Arial" pitchFamily="34" charset="0"/>
                <a:ea typeface="Arial" pitchFamily="34" charset="-122"/>
                <a:cs typeface="Arial" pitchFamily="34" charset="-120"/>
              </a:rPr>
              <a:t>5</a:t>
            </a:r>
            <a:endParaRPr lang="en-US" sz="1500" dirty="0"/>
          </a:p>
        </p:txBody>
      </p:sp>
      <p:sp>
        <p:nvSpPr>
          <p:cNvPr id="22" name="Text 19"/>
          <p:cNvSpPr/>
          <p:nvPr/>
        </p:nvSpPr>
        <p:spPr>
          <a:xfrm>
            <a:off x="1234440" y="4069080"/>
            <a:ext cx="7315200" cy="512064"/>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Arial" pitchFamily="34" charset="0"/>
                <a:ea typeface="Arial" pitchFamily="34" charset="-122"/>
                <a:cs typeface="Arial" pitchFamily="34" charset="-120"/>
              </a:rPr>
              <a:t>Migration Reporter  </a:t>
            </a:r>
            <a:pPr indent="0" marL="0">
              <a:lnSpc>
                <a:spcPct val="100000"/>
              </a:lnSpc>
              <a:buNone/>
            </a:pPr>
            <a:r>
              <a:rPr lang="en-US" sz="1400" dirty="0">
                <a:solidFill>
                  <a:srgbClr val="C9CDD4"/>
                </a:solidFill>
                <a:latin typeface="Arial" pitchFamily="34" charset="0"/>
                <a:ea typeface="Arial" pitchFamily="34" charset="-122"/>
                <a:cs typeface="Arial" pitchFamily="34" charset="-120"/>
              </a:rPr>
              <a:t>what moved, what didn't, and what Aiven should build</a:t>
            </a:r>
            <a:endParaRPr lang="en-US" sz="1400" dirty="0"/>
          </a:p>
        </p:txBody>
      </p:sp>
      <p:sp>
        <p:nvSpPr>
          <p:cNvPr id="23" name="Text 20"/>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one crew · every Aiven service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THE SWITCHBOARD</a:t>
            </a:r>
            <a:endParaRPr lang="en-US" sz="1050" dirty="0"/>
          </a:p>
        </p:txBody>
      </p:sp>
      <p:sp>
        <p:nvSpPr>
          <p:cNvPr id="5" name="Text 2"/>
          <p:cNvSpPr/>
          <p:nvPr/>
        </p:nvSpPr>
        <p:spPr>
          <a:xfrm>
            <a:off x="548640" y="822960"/>
            <a:ext cx="8046720" cy="548640"/>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Any service </a:t>
            </a:r>
            <a:pPr indent="0" marL="0">
              <a:buNone/>
            </a:pPr>
            <a:r>
              <a:rPr lang="en-US" sz="3100" b="1" dirty="0">
                <a:solidFill>
                  <a:srgbClr val="5FFA74"/>
                </a:solidFill>
                <a:latin typeface="Arial" pitchFamily="34" charset="0"/>
                <a:ea typeface="Arial" pitchFamily="34" charset="-122"/>
                <a:cs typeface="Arial" pitchFamily="34" charset="-120"/>
              </a:rPr>
              <a:t>→</a:t>
            </a:r>
            <a:pPr indent="0" marL="0">
              <a:buNone/>
            </a:pPr>
            <a:r>
              <a:rPr lang="en-US" sz="3100" b="1" dirty="0">
                <a:solidFill>
                  <a:srgbClr val="FFFFFF"/>
                </a:solidFill>
                <a:latin typeface="Arial" pitchFamily="34" charset="0"/>
                <a:ea typeface="Arial" pitchFamily="34" charset="-122"/>
                <a:cs typeface="Arial" pitchFamily="34" charset="-120"/>
              </a:rPr>
              <a:t> its Aiven equivalent.</a:t>
            </a:r>
            <a:endParaRPr lang="en-US" sz="3100" dirty="0"/>
          </a:p>
        </p:txBody>
      </p:sp>
      <p:sp>
        <p:nvSpPr>
          <p:cNvPr id="6" name="Shape 3"/>
          <p:cNvSpPr/>
          <p:nvPr/>
        </p:nvSpPr>
        <p:spPr>
          <a:xfrm>
            <a:off x="658368" y="1691640"/>
            <a:ext cx="164592" cy="164592"/>
          </a:xfrm>
          <a:prstGeom prst="ellipse">
            <a:avLst/>
          </a:prstGeom>
          <a:solidFill>
            <a:srgbClr val="6F64FF"/>
          </a:solidFill>
          <a:ln/>
        </p:spPr>
      </p:sp>
      <p:sp>
        <p:nvSpPr>
          <p:cNvPr id="7" name="Text 4"/>
          <p:cNvSpPr/>
          <p:nvPr/>
        </p:nvSpPr>
        <p:spPr>
          <a:xfrm>
            <a:off x="987552" y="1627632"/>
            <a:ext cx="18288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Postgres</a:t>
            </a:r>
            <a:endParaRPr lang="en-US" sz="1500" dirty="0"/>
          </a:p>
        </p:txBody>
      </p:sp>
      <p:sp>
        <p:nvSpPr>
          <p:cNvPr id="8" name="Text 5"/>
          <p:cNvSpPr/>
          <p:nvPr/>
        </p:nvSpPr>
        <p:spPr>
          <a:xfrm>
            <a:off x="2788920" y="1627632"/>
            <a:ext cx="2011680" cy="310896"/>
          </a:xfrm>
          <a:prstGeom prst="rect">
            <a:avLst/>
          </a:prstGeom>
          <a:noFill/>
          <a:ln/>
        </p:spPr>
        <p:txBody>
          <a:bodyPr wrap="square" lIns="0" tIns="0" rIns="0" bIns="0" rtlCol="0" anchor="ctr"/>
          <a:lstStyle/>
          <a:p>
            <a:pPr indent="0" marL="0">
              <a:buNone/>
            </a:pPr>
            <a:r>
              <a:rPr lang="en-US" sz="1250" dirty="0">
                <a:solidFill>
                  <a:srgbClr val="8C919A"/>
                </a:solidFill>
                <a:latin typeface="Arial" pitchFamily="34" charset="0"/>
                <a:ea typeface="Arial" pitchFamily="34" charset="-122"/>
                <a:cs typeface="Arial" pitchFamily="34" charset="-120"/>
              </a:rPr>
              <a:t>Supabase, Neon</a:t>
            </a:r>
            <a:endParaRPr lang="en-US" sz="1250" dirty="0"/>
          </a:p>
        </p:txBody>
      </p:sp>
      <p:sp>
        <p:nvSpPr>
          <p:cNvPr id="9" name="Text 6"/>
          <p:cNvSpPr/>
          <p:nvPr/>
        </p:nvSpPr>
        <p:spPr>
          <a:xfrm>
            <a:off x="4800600" y="1627632"/>
            <a:ext cx="457200" cy="310896"/>
          </a:xfrm>
          <a:prstGeom prst="rect">
            <a:avLst/>
          </a:prstGeom>
          <a:noFill/>
          <a:ln/>
        </p:spPr>
        <p:txBody>
          <a:bodyPr wrap="square" lIns="0" tIns="0" rIns="0" bIns="0" rtlCol="0" anchor="ctr"/>
          <a:lstStyle/>
          <a:p>
            <a:pPr algn="ctr" indent="0" marL="0">
              <a:buNone/>
            </a:pPr>
            <a:r>
              <a:rPr lang="en-US" sz="1600" b="1" dirty="0">
                <a:solidFill>
                  <a:srgbClr val="5FFA74"/>
                </a:solidFill>
                <a:latin typeface="Arial" pitchFamily="34" charset="0"/>
                <a:ea typeface="Arial" pitchFamily="34" charset="-122"/>
                <a:cs typeface="Arial" pitchFamily="34" charset="-120"/>
              </a:rPr>
              <a:t>→</a:t>
            </a:r>
            <a:endParaRPr lang="en-US" sz="1600" dirty="0"/>
          </a:p>
        </p:txBody>
      </p:sp>
      <p:sp>
        <p:nvSpPr>
          <p:cNvPr id="10" name="Text 7"/>
          <p:cNvSpPr/>
          <p:nvPr/>
        </p:nvSpPr>
        <p:spPr>
          <a:xfrm>
            <a:off x="5303520" y="1627632"/>
            <a:ext cx="3291840" cy="310896"/>
          </a:xfrm>
          <a:prstGeom prst="rect">
            <a:avLst/>
          </a:prstGeom>
          <a:noFill/>
          <a:ln/>
        </p:spPr>
        <p:txBody>
          <a:bodyPr wrap="square" lIns="0" tIns="0" rIns="0" bIns="0" rtlCol="0" anchor="ctr"/>
          <a:lstStyle/>
          <a:p>
            <a:pPr indent="0" marL="0">
              <a:buNone/>
            </a:pPr>
            <a:r>
              <a:rPr lang="en-US" sz="1450" b="1" dirty="0">
                <a:solidFill>
                  <a:srgbClr val="5FFA74"/>
                </a:solidFill>
                <a:latin typeface="Arial" pitchFamily="34" charset="0"/>
                <a:ea typeface="Arial" pitchFamily="34" charset="-122"/>
                <a:cs typeface="Arial" pitchFamily="34" charset="-120"/>
              </a:rPr>
              <a:t>Aiven for PostgreSQL</a:t>
            </a:r>
            <a:endParaRPr lang="en-US" sz="1450" dirty="0"/>
          </a:p>
        </p:txBody>
      </p:sp>
      <p:sp>
        <p:nvSpPr>
          <p:cNvPr id="11" name="Shape 8"/>
          <p:cNvSpPr/>
          <p:nvPr/>
        </p:nvSpPr>
        <p:spPr>
          <a:xfrm>
            <a:off x="658368" y="2203704"/>
            <a:ext cx="164592" cy="164592"/>
          </a:xfrm>
          <a:prstGeom prst="ellipse">
            <a:avLst/>
          </a:prstGeom>
          <a:solidFill>
            <a:srgbClr val="F85149"/>
          </a:solidFill>
          <a:ln/>
        </p:spPr>
      </p:sp>
      <p:sp>
        <p:nvSpPr>
          <p:cNvPr id="12" name="Text 9"/>
          <p:cNvSpPr/>
          <p:nvPr/>
        </p:nvSpPr>
        <p:spPr>
          <a:xfrm>
            <a:off x="987552" y="2139696"/>
            <a:ext cx="18288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Redis / cache</a:t>
            </a:r>
            <a:endParaRPr lang="en-US" sz="1500" dirty="0"/>
          </a:p>
        </p:txBody>
      </p:sp>
      <p:sp>
        <p:nvSpPr>
          <p:cNvPr id="13" name="Text 10"/>
          <p:cNvSpPr/>
          <p:nvPr/>
        </p:nvSpPr>
        <p:spPr>
          <a:xfrm>
            <a:off x="2788920" y="2139696"/>
            <a:ext cx="2011680" cy="310896"/>
          </a:xfrm>
          <a:prstGeom prst="rect">
            <a:avLst/>
          </a:prstGeom>
          <a:noFill/>
          <a:ln/>
        </p:spPr>
        <p:txBody>
          <a:bodyPr wrap="square" lIns="0" tIns="0" rIns="0" bIns="0" rtlCol="0" anchor="ctr"/>
          <a:lstStyle/>
          <a:p>
            <a:pPr indent="0" marL="0">
              <a:buNone/>
            </a:pPr>
            <a:r>
              <a:rPr lang="en-US" sz="1250" dirty="0">
                <a:solidFill>
                  <a:srgbClr val="8C919A"/>
                </a:solidFill>
                <a:latin typeface="Arial" pitchFamily="34" charset="0"/>
                <a:ea typeface="Arial" pitchFamily="34" charset="-122"/>
                <a:cs typeface="Arial" pitchFamily="34" charset="-120"/>
              </a:rPr>
              <a:t>Upstash, Redis</a:t>
            </a:r>
            <a:endParaRPr lang="en-US" sz="1250" dirty="0"/>
          </a:p>
        </p:txBody>
      </p:sp>
      <p:sp>
        <p:nvSpPr>
          <p:cNvPr id="14" name="Text 11"/>
          <p:cNvSpPr/>
          <p:nvPr/>
        </p:nvSpPr>
        <p:spPr>
          <a:xfrm>
            <a:off x="4800600" y="2139696"/>
            <a:ext cx="457200" cy="310896"/>
          </a:xfrm>
          <a:prstGeom prst="rect">
            <a:avLst/>
          </a:prstGeom>
          <a:noFill/>
          <a:ln/>
        </p:spPr>
        <p:txBody>
          <a:bodyPr wrap="square" lIns="0" tIns="0" rIns="0" bIns="0" rtlCol="0" anchor="ctr"/>
          <a:lstStyle/>
          <a:p>
            <a:pPr algn="ctr" indent="0" marL="0">
              <a:buNone/>
            </a:pPr>
            <a:r>
              <a:rPr lang="en-US" sz="1600" b="1" dirty="0">
                <a:solidFill>
                  <a:srgbClr val="5FFA74"/>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5303520" y="2139696"/>
            <a:ext cx="3291840" cy="310896"/>
          </a:xfrm>
          <a:prstGeom prst="rect">
            <a:avLst/>
          </a:prstGeom>
          <a:noFill/>
          <a:ln/>
        </p:spPr>
        <p:txBody>
          <a:bodyPr wrap="square" lIns="0" tIns="0" rIns="0" bIns="0" rtlCol="0" anchor="ctr"/>
          <a:lstStyle/>
          <a:p>
            <a:pPr indent="0" marL="0">
              <a:buNone/>
            </a:pPr>
            <a:r>
              <a:rPr lang="en-US" sz="1450" b="1" dirty="0">
                <a:solidFill>
                  <a:srgbClr val="5FFA74"/>
                </a:solidFill>
                <a:latin typeface="Arial" pitchFamily="34" charset="0"/>
                <a:ea typeface="Arial" pitchFamily="34" charset="-122"/>
                <a:cs typeface="Arial" pitchFamily="34" charset="-120"/>
              </a:rPr>
              <a:t>Aiven for Valkey</a:t>
            </a:r>
            <a:endParaRPr lang="en-US" sz="1450" dirty="0"/>
          </a:p>
        </p:txBody>
      </p:sp>
      <p:sp>
        <p:nvSpPr>
          <p:cNvPr id="16" name="Shape 13"/>
          <p:cNvSpPr/>
          <p:nvPr/>
        </p:nvSpPr>
        <p:spPr>
          <a:xfrm>
            <a:off x="658368" y="2715768"/>
            <a:ext cx="164592" cy="164592"/>
          </a:xfrm>
          <a:prstGeom prst="ellipse">
            <a:avLst/>
          </a:prstGeom>
          <a:solidFill>
            <a:srgbClr val="DF56F2"/>
          </a:solidFill>
          <a:ln/>
        </p:spPr>
      </p:sp>
      <p:sp>
        <p:nvSpPr>
          <p:cNvPr id="17" name="Text 14"/>
          <p:cNvSpPr/>
          <p:nvPr/>
        </p:nvSpPr>
        <p:spPr>
          <a:xfrm>
            <a:off x="987552" y="2651760"/>
            <a:ext cx="18288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Streaming</a:t>
            </a:r>
            <a:endParaRPr lang="en-US" sz="1500" dirty="0"/>
          </a:p>
        </p:txBody>
      </p:sp>
      <p:sp>
        <p:nvSpPr>
          <p:cNvPr id="18" name="Text 15"/>
          <p:cNvSpPr/>
          <p:nvPr/>
        </p:nvSpPr>
        <p:spPr>
          <a:xfrm>
            <a:off x="2788920" y="2651760"/>
            <a:ext cx="2011680" cy="310896"/>
          </a:xfrm>
          <a:prstGeom prst="rect">
            <a:avLst/>
          </a:prstGeom>
          <a:noFill/>
          <a:ln/>
        </p:spPr>
        <p:txBody>
          <a:bodyPr wrap="square" lIns="0" tIns="0" rIns="0" bIns="0" rtlCol="0" anchor="ctr"/>
          <a:lstStyle/>
          <a:p>
            <a:pPr indent="0" marL="0">
              <a:buNone/>
            </a:pPr>
            <a:r>
              <a:rPr lang="en-US" sz="1250" dirty="0">
                <a:solidFill>
                  <a:srgbClr val="8C919A"/>
                </a:solidFill>
                <a:latin typeface="Arial" pitchFamily="34" charset="0"/>
                <a:ea typeface="Arial" pitchFamily="34" charset="-122"/>
                <a:cs typeface="Arial" pitchFamily="34" charset="-120"/>
              </a:rPr>
              <a:t>Confluent, MSK</a:t>
            </a:r>
            <a:endParaRPr lang="en-US" sz="1250" dirty="0"/>
          </a:p>
        </p:txBody>
      </p:sp>
      <p:sp>
        <p:nvSpPr>
          <p:cNvPr id="19" name="Text 16"/>
          <p:cNvSpPr/>
          <p:nvPr/>
        </p:nvSpPr>
        <p:spPr>
          <a:xfrm>
            <a:off x="4800600" y="2651760"/>
            <a:ext cx="457200" cy="310896"/>
          </a:xfrm>
          <a:prstGeom prst="rect">
            <a:avLst/>
          </a:prstGeom>
          <a:noFill/>
          <a:ln/>
        </p:spPr>
        <p:txBody>
          <a:bodyPr wrap="square" lIns="0" tIns="0" rIns="0" bIns="0" rtlCol="0" anchor="ctr"/>
          <a:lstStyle/>
          <a:p>
            <a:pPr algn="ctr" indent="0" marL="0">
              <a:buNone/>
            </a:pPr>
            <a:r>
              <a:rPr lang="en-US" sz="1600" b="1" dirty="0">
                <a:solidFill>
                  <a:srgbClr val="5FFA74"/>
                </a:solidFill>
                <a:latin typeface="Arial" pitchFamily="34" charset="0"/>
                <a:ea typeface="Arial" pitchFamily="34" charset="-122"/>
                <a:cs typeface="Arial" pitchFamily="34" charset="-120"/>
              </a:rPr>
              <a:t>→</a:t>
            </a:r>
            <a:endParaRPr lang="en-US" sz="1600" dirty="0"/>
          </a:p>
        </p:txBody>
      </p:sp>
      <p:sp>
        <p:nvSpPr>
          <p:cNvPr id="20" name="Text 17"/>
          <p:cNvSpPr/>
          <p:nvPr/>
        </p:nvSpPr>
        <p:spPr>
          <a:xfrm>
            <a:off x="5303520" y="2651760"/>
            <a:ext cx="3291840" cy="310896"/>
          </a:xfrm>
          <a:prstGeom prst="rect">
            <a:avLst/>
          </a:prstGeom>
          <a:noFill/>
          <a:ln/>
        </p:spPr>
        <p:txBody>
          <a:bodyPr wrap="square" lIns="0" tIns="0" rIns="0" bIns="0" rtlCol="0" anchor="ctr"/>
          <a:lstStyle/>
          <a:p>
            <a:pPr indent="0" marL="0">
              <a:buNone/>
            </a:pPr>
            <a:r>
              <a:rPr lang="en-US" sz="1450" b="1" dirty="0">
                <a:solidFill>
                  <a:srgbClr val="5FFA74"/>
                </a:solidFill>
                <a:latin typeface="Arial" pitchFamily="34" charset="0"/>
                <a:ea typeface="Arial" pitchFamily="34" charset="-122"/>
                <a:cs typeface="Arial" pitchFamily="34" charset="-120"/>
              </a:rPr>
              <a:t>Aiven for Apache Kafka</a:t>
            </a:r>
            <a:endParaRPr lang="en-US" sz="1450" dirty="0"/>
          </a:p>
        </p:txBody>
      </p:sp>
      <p:sp>
        <p:nvSpPr>
          <p:cNvPr id="21" name="Shape 18"/>
          <p:cNvSpPr/>
          <p:nvPr/>
        </p:nvSpPr>
        <p:spPr>
          <a:xfrm>
            <a:off x="658368" y="3227832"/>
            <a:ext cx="164592" cy="164592"/>
          </a:xfrm>
          <a:prstGeom prst="ellipse">
            <a:avLst/>
          </a:prstGeom>
          <a:solidFill>
            <a:srgbClr val="2ED0CD"/>
          </a:solidFill>
          <a:ln/>
        </p:spPr>
      </p:sp>
      <p:sp>
        <p:nvSpPr>
          <p:cNvPr id="22" name="Text 19"/>
          <p:cNvSpPr/>
          <p:nvPr/>
        </p:nvSpPr>
        <p:spPr>
          <a:xfrm>
            <a:off x="987552" y="3163824"/>
            <a:ext cx="18288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Search</a:t>
            </a:r>
            <a:endParaRPr lang="en-US" sz="1500" dirty="0"/>
          </a:p>
        </p:txBody>
      </p:sp>
      <p:sp>
        <p:nvSpPr>
          <p:cNvPr id="23" name="Text 20"/>
          <p:cNvSpPr/>
          <p:nvPr/>
        </p:nvSpPr>
        <p:spPr>
          <a:xfrm>
            <a:off x="2788920" y="3163824"/>
            <a:ext cx="2011680" cy="310896"/>
          </a:xfrm>
          <a:prstGeom prst="rect">
            <a:avLst/>
          </a:prstGeom>
          <a:noFill/>
          <a:ln/>
        </p:spPr>
        <p:txBody>
          <a:bodyPr wrap="square" lIns="0" tIns="0" rIns="0" bIns="0" rtlCol="0" anchor="ctr"/>
          <a:lstStyle/>
          <a:p>
            <a:pPr indent="0" marL="0">
              <a:buNone/>
            </a:pPr>
            <a:r>
              <a:rPr lang="en-US" sz="1250" dirty="0">
                <a:solidFill>
                  <a:srgbClr val="8C919A"/>
                </a:solidFill>
                <a:latin typeface="Arial" pitchFamily="34" charset="0"/>
                <a:ea typeface="Arial" pitchFamily="34" charset="-122"/>
                <a:cs typeface="Arial" pitchFamily="34" charset="-120"/>
              </a:rPr>
              <a:t>Elastic</a:t>
            </a:r>
            <a:endParaRPr lang="en-US" sz="1250" dirty="0"/>
          </a:p>
        </p:txBody>
      </p:sp>
      <p:sp>
        <p:nvSpPr>
          <p:cNvPr id="24" name="Text 21"/>
          <p:cNvSpPr/>
          <p:nvPr/>
        </p:nvSpPr>
        <p:spPr>
          <a:xfrm>
            <a:off x="4800600" y="3163824"/>
            <a:ext cx="457200" cy="310896"/>
          </a:xfrm>
          <a:prstGeom prst="rect">
            <a:avLst/>
          </a:prstGeom>
          <a:noFill/>
          <a:ln/>
        </p:spPr>
        <p:txBody>
          <a:bodyPr wrap="square" lIns="0" tIns="0" rIns="0" bIns="0" rtlCol="0" anchor="ctr"/>
          <a:lstStyle/>
          <a:p>
            <a:pPr algn="ctr" indent="0" marL="0">
              <a:buNone/>
            </a:pPr>
            <a:r>
              <a:rPr lang="en-US" sz="1600" b="1" dirty="0">
                <a:solidFill>
                  <a:srgbClr val="5FFA74"/>
                </a:solidFill>
                <a:latin typeface="Arial" pitchFamily="34" charset="0"/>
                <a:ea typeface="Arial" pitchFamily="34" charset="-122"/>
                <a:cs typeface="Arial" pitchFamily="34" charset="-120"/>
              </a:rPr>
              <a:t>→</a:t>
            </a:r>
            <a:endParaRPr lang="en-US" sz="1600" dirty="0"/>
          </a:p>
        </p:txBody>
      </p:sp>
      <p:sp>
        <p:nvSpPr>
          <p:cNvPr id="25" name="Text 22"/>
          <p:cNvSpPr/>
          <p:nvPr/>
        </p:nvSpPr>
        <p:spPr>
          <a:xfrm>
            <a:off x="5303520" y="3163824"/>
            <a:ext cx="3291840" cy="310896"/>
          </a:xfrm>
          <a:prstGeom prst="rect">
            <a:avLst/>
          </a:prstGeom>
          <a:noFill/>
          <a:ln/>
        </p:spPr>
        <p:txBody>
          <a:bodyPr wrap="square" lIns="0" tIns="0" rIns="0" bIns="0" rtlCol="0" anchor="ctr"/>
          <a:lstStyle/>
          <a:p>
            <a:pPr indent="0" marL="0">
              <a:buNone/>
            </a:pPr>
            <a:r>
              <a:rPr lang="en-US" sz="1450" b="1" dirty="0">
                <a:solidFill>
                  <a:srgbClr val="5FFA74"/>
                </a:solidFill>
                <a:latin typeface="Arial" pitchFamily="34" charset="0"/>
                <a:ea typeface="Arial" pitchFamily="34" charset="-122"/>
                <a:cs typeface="Arial" pitchFamily="34" charset="-120"/>
              </a:rPr>
              <a:t>Aiven for OpenSearch</a:t>
            </a:r>
            <a:endParaRPr lang="en-US" sz="1450" dirty="0"/>
          </a:p>
        </p:txBody>
      </p:sp>
      <p:sp>
        <p:nvSpPr>
          <p:cNvPr id="26" name="Shape 23"/>
          <p:cNvSpPr/>
          <p:nvPr/>
        </p:nvSpPr>
        <p:spPr>
          <a:xfrm>
            <a:off x="658368" y="3739896"/>
            <a:ext cx="164592" cy="164592"/>
          </a:xfrm>
          <a:prstGeom prst="ellipse">
            <a:avLst/>
          </a:prstGeom>
          <a:solidFill>
            <a:srgbClr val="FDCD12"/>
          </a:solidFill>
          <a:ln/>
        </p:spPr>
      </p:sp>
      <p:sp>
        <p:nvSpPr>
          <p:cNvPr id="27" name="Text 24"/>
          <p:cNvSpPr/>
          <p:nvPr/>
        </p:nvSpPr>
        <p:spPr>
          <a:xfrm>
            <a:off x="987552" y="3675888"/>
            <a:ext cx="18288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Analytics</a:t>
            </a:r>
            <a:endParaRPr lang="en-US" sz="1500" dirty="0"/>
          </a:p>
        </p:txBody>
      </p:sp>
      <p:sp>
        <p:nvSpPr>
          <p:cNvPr id="28" name="Text 25"/>
          <p:cNvSpPr/>
          <p:nvPr/>
        </p:nvSpPr>
        <p:spPr>
          <a:xfrm>
            <a:off x="2788920" y="3675888"/>
            <a:ext cx="2011680" cy="310896"/>
          </a:xfrm>
          <a:prstGeom prst="rect">
            <a:avLst/>
          </a:prstGeom>
          <a:noFill/>
          <a:ln/>
        </p:spPr>
        <p:txBody>
          <a:bodyPr wrap="square" lIns="0" tIns="0" rIns="0" bIns="0" rtlCol="0" anchor="ctr"/>
          <a:lstStyle/>
          <a:p>
            <a:pPr indent="0" marL="0">
              <a:buNone/>
            </a:pPr>
            <a:r>
              <a:rPr lang="en-US" sz="1250" dirty="0">
                <a:solidFill>
                  <a:srgbClr val="8C919A"/>
                </a:solidFill>
                <a:latin typeface="Arial" pitchFamily="34" charset="0"/>
                <a:ea typeface="Arial" pitchFamily="34" charset="-122"/>
                <a:cs typeface="Arial" pitchFamily="34" charset="-120"/>
              </a:rPr>
              <a:t>warehouses</a:t>
            </a:r>
            <a:endParaRPr lang="en-US" sz="1250" dirty="0"/>
          </a:p>
        </p:txBody>
      </p:sp>
      <p:sp>
        <p:nvSpPr>
          <p:cNvPr id="29" name="Text 26"/>
          <p:cNvSpPr/>
          <p:nvPr/>
        </p:nvSpPr>
        <p:spPr>
          <a:xfrm>
            <a:off x="4800600" y="3675888"/>
            <a:ext cx="457200" cy="310896"/>
          </a:xfrm>
          <a:prstGeom prst="rect">
            <a:avLst/>
          </a:prstGeom>
          <a:noFill/>
          <a:ln/>
        </p:spPr>
        <p:txBody>
          <a:bodyPr wrap="square" lIns="0" tIns="0" rIns="0" bIns="0" rtlCol="0" anchor="ctr"/>
          <a:lstStyle/>
          <a:p>
            <a:pPr algn="ctr" indent="0" marL="0">
              <a:buNone/>
            </a:pPr>
            <a:r>
              <a:rPr lang="en-US" sz="1600" b="1" dirty="0">
                <a:solidFill>
                  <a:srgbClr val="5FFA74"/>
                </a:solidFill>
                <a:latin typeface="Arial" pitchFamily="34" charset="0"/>
                <a:ea typeface="Arial" pitchFamily="34" charset="-122"/>
                <a:cs typeface="Arial" pitchFamily="34" charset="-120"/>
              </a:rPr>
              <a:t>→</a:t>
            </a:r>
            <a:endParaRPr lang="en-US" sz="1600" dirty="0"/>
          </a:p>
        </p:txBody>
      </p:sp>
      <p:sp>
        <p:nvSpPr>
          <p:cNvPr id="30" name="Text 27"/>
          <p:cNvSpPr/>
          <p:nvPr/>
        </p:nvSpPr>
        <p:spPr>
          <a:xfrm>
            <a:off x="5303520" y="3675888"/>
            <a:ext cx="3291840" cy="310896"/>
          </a:xfrm>
          <a:prstGeom prst="rect">
            <a:avLst/>
          </a:prstGeom>
          <a:noFill/>
          <a:ln/>
        </p:spPr>
        <p:txBody>
          <a:bodyPr wrap="square" lIns="0" tIns="0" rIns="0" bIns="0" rtlCol="0" anchor="ctr"/>
          <a:lstStyle/>
          <a:p>
            <a:pPr indent="0" marL="0">
              <a:buNone/>
            </a:pPr>
            <a:r>
              <a:rPr lang="en-US" sz="1450" b="1" dirty="0">
                <a:solidFill>
                  <a:srgbClr val="5FFA74"/>
                </a:solidFill>
                <a:latin typeface="Arial" pitchFamily="34" charset="0"/>
                <a:ea typeface="Arial" pitchFamily="34" charset="-122"/>
                <a:cs typeface="Arial" pitchFamily="34" charset="-120"/>
              </a:rPr>
              <a:t>Aiven for ClickHouse</a:t>
            </a:r>
            <a:endParaRPr lang="en-US" sz="1450" dirty="0"/>
          </a:p>
        </p:txBody>
      </p:sp>
      <p:sp>
        <p:nvSpPr>
          <p:cNvPr id="31" name="Text 28"/>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the switchboard routes the whole stack — not just the database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WHY IT GENERALIZES</a:t>
            </a:r>
            <a:endParaRPr lang="en-US" sz="1050" dirty="0"/>
          </a:p>
        </p:txBody>
      </p:sp>
      <p:sp>
        <p:nvSpPr>
          <p:cNvPr id="5" name="Text 2"/>
          <p:cNvSpPr/>
          <p:nvPr/>
        </p:nvSpPr>
        <p:spPr>
          <a:xfrm>
            <a:off x="548640" y="91440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Under every managed backend is </a:t>
            </a:r>
            <a:pPr indent="0" marL="0">
              <a:buNone/>
            </a:pPr>
            <a:r>
              <a:rPr lang="en-US" sz="3000" b="1" dirty="0">
                <a:solidFill>
                  <a:srgbClr val="5FFA74"/>
                </a:solidFill>
                <a:latin typeface="Arial" pitchFamily="34" charset="0"/>
                <a:ea typeface="Arial" pitchFamily="34" charset="-122"/>
                <a:cs typeface="Arial" pitchFamily="34" charset="-120"/>
              </a:rPr>
              <a:t>open source</a:t>
            </a:r>
            <a:pPr indent="0" marL="0">
              <a:buNone/>
            </a:pP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6" name="Text 3"/>
          <p:cNvSpPr/>
          <p:nvPr/>
        </p:nvSpPr>
        <p:spPr>
          <a:xfrm>
            <a:off x="548640" y="1874520"/>
            <a:ext cx="8046720" cy="457200"/>
          </a:xfrm>
          <a:prstGeom prst="rect">
            <a:avLst/>
          </a:prstGeom>
          <a:noFill/>
          <a:ln/>
        </p:spPr>
        <p:txBody>
          <a:bodyPr wrap="square" lIns="0" tIns="0" rIns="0" bIns="0" rtlCol="0" anchor="ctr"/>
          <a:lstStyle/>
          <a:p>
            <a:pPr indent="0" marL="0">
              <a:buNone/>
            </a:pPr>
            <a:r>
              <a:rPr lang="en-US" sz="1450" dirty="0">
                <a:solidFill>
                  <a:srgbClr val="C9CDD4"/>
                </a:solidFill>
                <a:latin typeface="Arial" pitchFamily="34" charset="0"/>
                <a:ea typeface="Arial" pitchFamily="34" charset="-122"/>
                <a:cs typeface="Arial" pitchFamily="34" charset="-120"/>
              </a:rPr>
              <a:t>Supabase is Postgres. Upstash is Redis. Confluent is Kafka. Aiven already runs all of them.</a:t>
            </a:r>
            <a:endParaRPr lang="en-US" sz="1450" dirty="0"/>
          </a:p>
        </p:txBody>
      </p:sp>
      <p:sp>
        <p:nvSpPr>
          <p:cNvPr id="7" name="Shape 4"/>
          <p:cNvSpPr/>
          <p:nvPr/>
        </p:nvSpPr>
        <p:spPr>
          <a:xfrm>
            <a:off x="548640" y="2505456"/>
            <a:ext cx="6437376" cy="603504"/>
          </a:xfrm>
          <a:prstGeom prst="rect">
            <a:avLst/>
          </a:prstGeom>
          <a:solidFill>
            <a:srgbClr val="5FFA74"/>
          </a:solidFill>
          <a:ln/>
        </p:spPr>
      </p:sp>
      <p:sp>
        <p:nvSpPr>
          <p:cNvPr id="8" name="Shape 5"/>
          <p:cNvSpPr/>
          <p:nvPr/>
        </p:nvSpPr>
        <p:spPr>
          <a:xfrm>
            <a:off x="6986016" y="2505456"/>
            <a:ext cx="1609344" cy="603504"/>
          </a:xfrm>
          <a:prstGeom prst="rect">
            <a:avLst/>
          </a:prstGeom>
          <a:solidFill>
            <a:srgbClr val="7683FF"/>
          </a:solidFill>
          <a:ln/>
        </p:spPr>
      </p:sp>
      <p:sp>
        <p:nvSpPr>
          <p:cNvPr id="9" name="Text 6"/>
          <p:cNvSpPr/>
          <p:nvPr/>
        </p:nvSpPr>
        <p:spPr>
          <a:xfrm>
            <a:off x="640080" y="2505456"/>
            <a:ext cx="6254496" cy="603504"/>
          </a:xfrm>
          <a:prstGeom prst="rect">
            <a:avLst/>
          </a:prstGeom>
          <a:noFill/>
          <a:ln/>
        </p:spPr>
        <p:txBody>
          <a:bodyPr wrap="square" lIns="0" tIns="0" rIns="0" bIns="0" rtlCol="0" anchor="ctr"/>
          <a:lstStyle/>
          <a:p>
            <a:pPr indent="0" marL="0">
              <a:buNone/>
            </a:pPr>
            <a:r>
              <a:rPr lang="en-US" sz="2200" b="1" dirty="0">
                <a:solidFill>
                  <a:srgbClr val="05080F"/>
                </a:solidFill>
                <a:latin typeface="Arial" pitchFamily="34" charset="0"/>
                <a:ea typeface="Arial" pitchFamily="34" charset="-122"/>
                <a:cs typeface="Arial" pitchFamily="34" charset="-120"/>
              </a:rPr>
              <a:t>80%</a:t>
            </a:r>
            <a:endParaRPr lang="en-US" sz="2200" dirty="0"/>
          </a:p>
        </p:txBody>
      </p:sp>
      <p:sp>
        <p:nvSpPr>
          <p:cNvPr id="10" name="Text 7"/>
          <p:cNvSpPr/>
          <p:nvPr/>
        </p:nvSpPr>
        <p:spPr>
          <a:xfrm>
            <a:off x="6986016" y="2505456"/>
            <a:ext cx="1517904" cy="603504"/>
          </a:xfrm>
          <a:prstGeom prst="rect">
            <a:avLst/>
          </a:prstGeom>
          <a:noFill/>
          <a:ln/>
        </p:spPr>
        <p:txBody>
          <a:bodyPr wrap="square" lIns="0" tIns="0" rIns="0" bIns="0" rtlCol="0" anchor="ctr"/>
          <a:lstStyle/>
          <a:p>
            <a:pPr algn="r" indent="0" marL="0">
              <a:buNone/>
            </a:pPr>
            <a:r>
              <a:rPr lang="en-US" sz="1600" b="1" dirty="0">
                <a:solidFill>
                  <a:srgbClr val="FFFFFF"/>
                </a:solidFill>
                <a:latin typeface="Arial" pitchFamily="34" charset="0"/>
                <a:ea typeface="Arial" pitchFamily="34" charset="-122"/>
                <a:cs typeface="Arial" pitchFamily="34" charset="-120"/>
              </a:rPr>
              <a:t>20%</a:t>
            </a:r>
            <a:endParaRPr lang="en-US" sz="1600" dirty="0"/>
          </a:p>
        </p:txBody>
      </p:sp>
      <p:sp>
        <p:nvSpPr>
          <p:cNvPr id="11" name="Text 8"/>
          <p:cNvSpPr/>
          <p:nvPr/>
        </p:nvSpPr>
        <p:spPr>
          <a:xfrm>
            <a:off x="548640" y="3218688"/>
            <a:ext cx="6437376" cy="320040"/>
          </a:xfrm>
          <a:prstGeom prst="rect">
            <a:avLst/>
          </a:prstGeom>
          <a:noFill/>
          <a:ln/>
        </p:spPr>
        <p:txBody>
          <a:bodyPr wrap="square" lIns="0" tIns="0" rIns="0" bIns="0" rtlCol="0" anchor="ctr"/>
          <a:lstStyle/>
          <a:p>
            <a:pPr indent="0" marL="0">
              <a:buNone/>
            </a:pPr>
            <a:r>
              <a:rPr lang="en-US" sz="1250" dirty="0">
                <a:solidFill>
                  <a:srgbClr val="5FFA74"/>
                </a:solidFill>
                <a:latin typeface="Arial" pitchFamily="34" charset="0"/>
                <a:ea typeface="Arial" pitchFamily="34" charset="-122"/>
                <a:cs typeface="Arial" pitchFamily="34" charset="-120"/>
              </a:rPr>
              <a:t>Open-source engine — schema, data &amp; config transfer verbatim</a:t>
            </a:r>
            <a:endParaRPr lang="en-US" sz="1250" dirty="0"/>
          </a:p>
        </p:txBody>
      </p:sp>
      <p:sp>
        <p:nvSpPr>
          <p:cNvPr id="12" name="Text 9"/>
          <p:cNvSpPr/>
          <p:nvPr/>
        </p:nvSpPr>
        <p:spPr>
          <a:xfrm>
            <a:off x="6986016" y="3218688"/>
            <a:ext cx="1609344" cy="320040"/>
          </a:xfrm>
          <a:prstGeom prst="rect">
            <a:avLst/>
          </a:prstGeom>
          <a:noFill/>
          <a:ln/>
        </p:spPr>
        <p:txBody>
          <a:bodyPr wrap="square" lIns="0" tIns="0" rIns="0" bIns="0" rtlCol="0" anchor="ctr"/>
          <a:lstStyle/>
          <a:p>
            <a:pPr algn="r" indent="0" marL="0">
              <a:buNone/>
            </a:pPr>
            <a:r>
              <a:rPr lang="en-US" sz="1250" dirty="0">
                <a:solidFill>
                  <a:srgbClr val="7683FF"/>
                </a:solidFill>
                <a:latin typeface="Arial" pitchFamily="34" charset="0"/>
                <a:ea typeface="Arial" pitchFamily="34" charset="-122"/>
                <a:cs typeface="Arial" pitchFamily="34" charset="-120"/>
              </a:rPr>
              <a:t>Thin, generatable layer</a:t>
            </a:r>
            <a:endParaRPr lang="en-US" sz="1250" dirty="0"/>
          </a:p>
        </p:txBody>
      </p:sp>
      <p:sp>
        <p:nvSpPr>
          <p:cNvPr id="13" name="Text 10"/>
          <p:cNvSpPr/>
          <p:nvPr/>
        </p:nvSpPr>
        <p:spPr>
          <a:xfrm>
            <a:off x="548640" y="3703320"/>
            <a:ext cx="8046720" cy="457200"/>
          </a:xfrm>
          <a:prstGeom prst="rect">
            <a:avLst/>
          </a:prstGeom>
          <a:noFill/>
          <a:ln/>
        </p:spPr>
        <p:txBody>
          <a:bodyPr wrap="square" lIns="0" tIns="0" rIns="0" bIns="0" rtlCol="0" anchor="ctr"/>
          <a:lstStyle/>
          <a:p>
            <a:pPr indent="0" marL="0">
              <a:buNone/>
            </a:pPr>
            <a:r>
              <a:rPr lang="en-US" sz="1550" dirty="0">
                <a:solidFill>
                  <a:srgbClr val="C9CDD4"/>
                </a:solidFill>
                <a:latin typeface="Arial" pitchFamily="34" charset="0"/>
                <a:ea typeface="Arial" pitchFamily="34" charset="-122"/>
                <a:cs typeface="Arial" pitchFamily="34" charset="-120"/>
              </a:rPr>
              <a:t>Switchboard generates the thin layer that's left — and reports the 20% Aiven still needs to own.</a:t>
            </a:r>
            <a:endParaRPr lang="en-US" sz="1550" dirty="0"/>
          </a:p>
        </p:txBody>
      </p:sp>
      <p:sp>
        <p:nvSpPr>
          <p:cNvPr id="14" name="Text 11"/>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that's why it generalizes — every service is the same move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IT'S REAL — NOT SLIDEWARE</a:t>
            </a:r>
            <a:endParaRPr lang="en-US" sz="1050" dirty="0"/>
          </a:p>
        </p:txBody>
      </p:sp>
      <p:sp>
        <p:nvSpPr>
          <p:cNvPr id="5" name="Text 2"/>
          <p:cNvSpPr/>
          <p:nvPr/>
        </p:nvSpPr>
        <p:spPr>
          <a:xfrm>
            <a:off x="548640" y="822960"/>
            <a:ext cx="80467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Proven on the hardest case.</a:t>
            </a:r>
            <a:endParaRPr lang="en-US" sz="2900" dirty="0"/>
          </a:p>
        </p:txBody>
      </p:sp>
      <p:sp>
        <p:nvSpPr>
          <p:cNvPr id="6" name="Text 3"/>
          <p:cNvSpPr/>
          <p:nvPr/>
        </p:nvSpPr>
        <p:spPr>
          <a:xfrm>
            <a:off x="548640" y="1335024"/>
            <a:ext cx="8046720" cy="502920"/>
          </a:xfrm>
          <a:prstGeom prst="rect">
            <a:avLst/>
          </a:prstGeom>
          <a:noFill/>
          <a:ln/>
        </p:spPr>
        <p:txBody>
          <a:bodyPr wrap="square" lIns="0" tIns="0" rIns="0" bIns="0" rtlCol="0" anchor="ctr"/>
          <a:lstStyle/>
          <a:p>
            <a:pPr indent="0" marL="0">
              <a:lnSpc>
                <a:spcPct val="115000"/>
              </a:lnSpc>
              <a:buNone/>
            </a:pPr>
            <a:r>
              <a:rPr lang="en-US" sz="1300" dirty="0">
                <a:solidFill>
                  <a:srgbClr val="C9CDD4"/>
                </a:solidFill>
                <a:latin typeface="Arial" pitchFamily="34" charset="0"/>
                <a:ea typeface="Arial" pitchFamily="34" charset="-122"/>
                <a:cs typeface="Arial" pitchFamily="34" charset="-120"/>
              </a:rPr>
              <a:t>On 2026-06-25 the crew migrated PulseBoard onto a real Aiven for PostgreSQL service — every statement through the Aiven MCP. Postgres has the most proprietary surface; the rest is easier.</a:t>
            </a:r>
            <a:endParaRPr lang="en-US" sz="1300" dirty="0"/>
          </a:p>
        </p:txBody>
      </p:sp>
      <p:sp>
        <p:nvSpPr>
          <p:cNvPr id="7" name="Shape 4"/>
          <p:cNvSpPr/>
          <p:nvPr/>
        </p:nvSpPr>
        <p:spPr>
          <a:xfrm>
            <a:off x="548640" y="1975104"/>
            <a:ext cx="3886200" cy="1188720"/>
          </a:xfrm>
          <a:prstGeom prst="roundRect">
            <a:avLst>
              <a:gd name="adj" fmla="val 6154"/>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8" name="Text 5"/>
          <p:cNvSpPr/>
          <p:nvPr/>
        </p:nvSpPr>
        <p:spPr>
          <a:xfrm>
            <a:off x="804672" y="2157984"/>
            <a:ext cx="3429000" cy="530352"/>
          </a:xfrm>
          <a:prstGeom prst="rect">
            <a:avLst/>
          </a:prstGeom>
          <a:noFill/>
          <a:ln/>
        </p:spPr>
        <p:txBody>
          <a:bodyPr wrap="square" lIns="0" tIns="0" rIns="0" bIns="0" rtlCol="0" anchor="ctr"/>
          <a:lstStyle/>
          <a:p>
            <a:pPr indent="0" marL="0">
              <a:buNone/>
            </a:pPr>
            <a:r>
              <a:rPr lang="en-US" sz="2800" b="1" dirty="0">
                <a:solidFill>
                  <a:srgbClr val="5FFA74"/>
                </a:solidFill>
                <a:latin typeface="Arial" pitchFamily="34" charset="0"/>
                <a:ea typeface="Arial" pitchFamily="34" charset="-122"/>
                <a:cs typeface="Arial" pitchFamily="34" charset="-120"/>
              </a:rPr>
              <a:t>5 · 6 · 2</a:t>
            </a:r>
            <a:endParaRPr lang="en-US" sz="2800" dirty="0"/>
          </a:p>
        </p:txBody>
      </p:sp>
      <p:sp>
        <p:nvSpPr>
          <p:cNvPr id="9" name="Text 6"/>
          <p:cNvSpPr/>
          <p:nvPr/>
        </p:nvSpPr>
        <p:spPr>
          <a:xfrm>
            <a:off x="804672" y="2724912"/>
            <a:ext cx="3429000" cy="347472"/>
          </a:xfrm>
          <a:prstGeom prst="rect">
            <a:avLst/>
          </a:prstGeom>
          <a:noFill/>
          <a:ln/>
        </p:spPr>
        <p:txBody>
          <a:bodyPr wrap="square" lIns="0" tIns="0" rIns="0" bIns="0" rtlCol="0" anchor="t"/>
          <a:lstStyle/>
          <a:p>
            <a:pPr indent="0" marL="0">
              <a:buNone/>
            </a:pPr>
            <a:r>
              <a:rPr lang="en-US" sz="1250" dirty="0">
                <a:solidFill>
                  <a:srgbClr val="8C919A"/>
                </a:solidFill>
                <a:latin typeface="Arial" pitchFamily="34" charset="0"/>
                <a:ea typeface="Arial" pitchFamily="34" charset="-122"/>
                <a:cs typeface="Arial" pitchFamily="34" charset="-120"/>
              </a:rPr>
              <a:t>tables, RLS policies &amp; indexes recreated on Aiven</a:t>
            </a:r>
            <a:endParaRPr lang="en-US" sz="1250" dirty="0"/>
          </a:p>
        </p:txBody>
      </p:sp>
      <p:sp>
        <p:nvSpPr>
          <p:cNvPr id="10" name="Shape 7"/>
          <p:cNvSpPr/>
          <p:nvPr/>
        </p:nvSpPr>
        <p:spPr>
          <a:xfrm>
            <a:off x="4709160" y="1975104"/>
            <a:ext cx="3886200" cy="1188720"/>
          </a:xfrm>
          <a:prstGeom prst="roundRect">
            <a:avLst>
              <a:gd name="adj" fmla="val 6154"/>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11" name="Text 8"/>
          <p:cNvSpPr/>
          <p:nvPr/>
        </p:nvSpPr>
        <p:spPr>
          <a:xfrm>
            <a:off x="4965192" y="2157984"/>
            <a:ext cx="3429000" cy="530352"/>
          </a:xfrm>
          <a:prstGeom prst="rect">
            <a:avLst/>
          </a:prstGeom>
          <a:noFill/>
          <a:ln/>
        </p:spPr>
        <p:txBody>
          <a:bodyPr wrap="square" lIns="0" tIns="0" rIns="0" bIns="0" rtlCol="0" anchor="ctr"/>
          <a:lstStyle/>
          <a:p>
            <a:pPr indent="0" marL="0">
              <a:buNone/>
            </a:pPr>
            <a:r>
              <a:rPr lang="en-US" sz="2300" b="1" dirty="0">
                <a:solidFill>
                  <a:srgbClr val="5FFA74"/>
                </a:solidFill>
                <a:latin typeface="Courier New" pitchFamily="34" charset="0"/>
                <a:ea typeface="Courier New" pitchFamily="34" charset="-122"/>
                <a:cs typeface="Courier New" pitchFamily="34" charset="-120"/>
              </a:rPr>
              <a:t>login_ok = true</a:t>
            </a:r>
            <a:endParaRPr lang="en-US" sz="2300" dirty="0"/>
          </a:p>
        </p:txBody>
      </p:sp>
      <p:sp>
        <p:nvSpPr>
          <p:cNvPr id="12" name="Text 9"/>
          <p:cNvSpPr/>
          <p:nvPr/>
        </p:nvSpPr>
        <p:spPr>
          <a:xfrm>
            <a:off x="4965192" y="2724912"/>
            <a:ext cx="3429000" cy="347472"/>
          </a:xfrm>
          <a:prstGeom prst="rect">
            <a:avLst/>
          </a:prstGeom>
          <a:noFill/>
          <a:ln/>
        </p:spPr>
        <p:txBody>
          <a:bodyPr wrap="square" lIns="0" tIns="0" rIns="0" bIns="0" rtlCol="0" anchor="t"/>
          <a:lstStyle/>
          <a:p>
            <a:pPr indent="0" marL="0">
              <a:buNone/>
            </a:pPr>
            <a:r>
              <a:rPr lang="en-US" sz="1250" dirty="0">
                <a:solidFill>
                  <a:srgbClr val="8C919A"/>
                </a:solidFill>
                <a:latin typeface="Arial" pitchFamily="34" charset="0"/>
                <a:ea typeface="Arial" pitchFamily="34" charset="-122"/>
                <a:cs typeface="Arial" pitchFamily="34" charset="-120"/>
              </a:rPr>
              <a:t>pgcrypto bcrypt verified live (wrong pw → false)</a:t>
            </a:r>
            <a:endParaRPr lang="en-US" sz="1250" dirty="0"/>
          </a:p>
        </p:txBody>
      </p:sp>
      <p:sp>
        <p:nvSpPr>
          <p:cNvPr id="13" name="Shape 10"/>
          <p:cNvSpPr/>
          <p:nvPr/>
        </p:nvSpPr>
        <p:spPr>
          <a:xfrm>
            <a:off x="548640" y="3383280"/>
            <a:ext cx="3886200" cy="1188720"/>
          </a:xfrm>
          <a:prstGeom prst="roundRect">
            <a:avLst>
              <a:gd name="adj" fmla="val 6154"/>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14" name="Text 11"/>
          <p:cNvSpPr/>
          <p:nvPr/>
        </p:nvSpPr>
        <p:spPr>
          <a:xfrm>
            <a:off x="804672" y="3566160"/>
            <a:ext cx="3429000" cy="530352"/>
          </a:xfrm>
          <a:prstGeom prst="rect">
            <a:avLst/>
          </a:prstGeom>
          <a:noFill/>
          <a:ln/>
        </p:spPr>
        <p:txBody>
          <a:bodyPr wrap="square" lIns="0" tIns="0" rIns="0" bIns="0" rtlCol="0" anchor="ctr"/>
          <a:lstStyle/>
          <a:p>
            <a:pPr indent="0" marL="0">
              <a:buNone/>
            </a:pPr>
            <a:r>
              <a:rPr lang="en-US" sz="2800" b="1" dirty="0">
                <a:solidFill>
                  <a:srgbClr val="5FFA74"/>
                </a:solidFill>
                <a:latin typeface="Arial" pitchFamily="34" charset="0"/>
                <a:ea typeface="Arial" pitchFamily="34" charset="-122"/>
                <a:cs typeface="Arial" pitchFamily="34" charset="-120"/>
              </a:rPr>
              <a:t>+640 / −119</a:t>
            </a:r>
            <a:endParaRPr lang="en-US" sz="2800" dirty="0"/>
          </a:p>
        </p:txBody>
      </p:sp>
      <p:sp>
        <p:nvSpPr>
          <p:cNvPr id="15" name="Text 12"/>
          <p:cNvSpPr/>
          <p:nvPr/>
        </p:nvSpPr>
        <p:spPr>
          <a:xfrm>
            <a:off x="804672" y="4133088"/>
            <a:ext cx="3429000" cy="347472"/>
          </a:xfrm>
          <a:prstGeom prst="rect">
            <a:avLst/>
          </a:prstGeom>
          <a:noFill/>
          <a:ln/>
        </p:spPr>
        <p:txBody>
          <a:bodyPr wrap="square" lIns="0" tIns="0" rIns="0" bIns="0" rtlCol="0" anchor="t"/>
          <a:lstStyle/>
          <a:p>
            <a:pPr indent="0" marL="0">
              <a:buNone/>
            </a:pPr>
            <a:r>
              <a:rPr lang="en-US" sz="1250" dirty="0">
                <a:solidFill>
                  <a:srgbClr val="8C919A"/>
                </a:solidFill>
                <a:latin typeface="Arial" pitchFamily="34" charset="0"/>
                <a:ea typeface="Arial" pitchFamily="34" charset="-122"/>
                <a:cs typeface="Arial" pitchFamily="34" charset="-120"/>
              </a:rPr>
              <a:t>real codemod — the Supabase client is gone</a:t>
            </a:r>
            <a:endParaRPr lang="en-US" sz="1250" dirty="0"/>
          </a:p>
        </p:txBody>
      </p:sp>
      <p:sp>
        <p:nvSpPr>
          <p:cNvPr id="16" name="Shape 13"/>
          <p:cNvSpPr/>
          <p:nvPr/>
        </p:nvSpPr>
        <p:spPr>
          <a:xfrm>
            <a:off x="4709160" y="3383280"/>
            <a:ext cx="3886200" cy="1188720"/>
          </a:xfrm>
          <a:prstGeom prst="roundRect">
            <a:avLst>
              <a:gd name="adj" fmla="val 6154"/>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17" name="Text 14"/>
          <p:cNvSpPr/>
          <p:nvPr/>
        </p:nvSpPr>
        <p:spPr>
          <a:xfrm>
            <a:off x="4965192" y="3566160"/>
            <a:ext cx="3429000" cy="530352"/>
          </a:xfrm>
          <a:prstGeom prst="rect">
            <a:avLst/>
          </a:prstGeom>
          <a:noFill/>
          <a:ln/>
        </p:spPr>
        <p:txBody>
          <a:bodyPr wrap="square" lIns="0" tIns="0" rIns="0" bIns="0" rtlCol="0" anchor="ctr"/>
          <a:lstStyle/>
          <a:p>
            <a:pPr indent="0" marL="0">
              <a:buNone/>
            </a:pPr>
            <a:r>
              <a:rPr lang="en-US" sz="2300" b="1" dirty="0">
                <a:solidFill>
                  <a:srgbClr val="5FFA74"/>
                </a:solidFill>
                <a:latin typeface="Courier New" pitchFamily="34" charset="0"/>
                <a:ea typeface="Courier New" pitchFamily="34" charset="-122"/>
                <a:cs typeface="Courier New" pitchFamily="34" charset="-120"/>
              </a:rPr>
              <a:t>pg-22a59da</a:t>
            </a:r>
            <a:endParaRPr lang="en-US" sz="2300" dirty="0"/>
          </a:p>
        </p:txBody>
      </p:sp>
      <p:sp>
        <p:nvSpPr>
          <p:cNvPr id="18" name="Text 15"/>
          <p:cNvSpPr/>
          <p:nvPr/>
        </p:nvSpPr>
        <p:spPr>
          <a:xfrm>
            <a:off x="4965192" y="4133088"/>
            <a:ext cx="3429000" cy="347472"/>
          </a:xfrm>
          <a:prstGeom prst="rect">
            <a:avLst/>
          </a:prstGeom>
          <a:noFill/>
          <a:ln/>
        </p:spPr>
        <p:txBody>
          <a:bodyPr wrap="square" lIns="0" tIns="0" rIns="0" bIns="0" rtlCol="0" anchor="t"/>
          <a:lstStyle/>
          <a:p>
            <a:pPr indent="0" marL="0">
              <a:buNone/>
            </a:pPr>
            <a:r>
              <a:rPr lang="en-US" sz="1250" dirty="0">
                <a:solidFill>
                  <a:srgbClr val="8C919A"/>
                </a:solidFill>
                <a:latin typeface="Arial" pitchFamily="34" charset="0"/>
                <a:ea typeface="Arial" pitchFamily="34" charset="-122"/>
                <a:cs typeface="Arial" pitchFamily="34" charset="-120"/>
              </a:rPr>
              <a:t>PostgreSQL 17.10 · do-ams · free plan ($0)</a:t>
            </a:r>
            <a:endParaRPr lang="en-US" sz="1250" dirty="0"/>
          </a:p>
        </p:txBody>
      </p:sp>
      <p:sp>
        <p:nvSpPr>
          <p:cNvPr id="19" name="Text 16"/>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evidence: proof/migration-proof.md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WHERE IT GOES</a:t>
            </a:r>
            <a:endParaRPr lang="en-US" sz="1050" dirty="0"/>
          </a:p>
        </p:txBody>
      </p:sp>
      <p:sp>
        <p:nvSpPr>
          <p:cNvPr id="5" name="Text 2"/>
          <p:cNvSpPr/>
          <p:nvPr/>
        </p:nvSpPr>
        <p:spPr>
          <a:xfrm>
            <a:off x="548640" y="822960"/>
            <a:ext cx="80467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When Aiven Apps ships, the whole app moves too.</a:t>
            </a:r>
            <a:endParaRPr lang="en-US" sz="2900" dirty="0"/>
          </a:p>
        </p:txBody>
      </p:sp>
      <p:sp>
        <p:nvSpPr>
          <p:cNvPr id="6" name="Shape 3"/>
          <p:cNvSpPr/>
          <p:nvPr/>
        </p:nvSpPr>
        <p:spPr>
          <a:xfrm>
            <a:off x="548640" y="1783080"/>
            <a:ext cx="3886200" cy="2148840"/>
          </a:xfrm>
          <a:prstGeom prst="roundRect">
            <a:avLst>
              <a:gd name="adj" fmla="val 3404"/>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7" name="Text 4"/>
          <p:cNvSpPr/>
          <p:nvPr/>
        </p:nvSpPr>
        <p:spPr>
          <a:xfrm>
            <a:off x="822960" y="2002536"/>
            <a:ext cx="3337560" cy="274320"/>
          </a:xfrm>
          <a:prstGeom prst="rect">
            <a:avLst/>
          </a:prstGeom>
          <a:noFill/>
          <a:ln/>
        </p:spPr>
        <p:txBody>
          <a:bodyPr wrap="square" lIns="0" tIns="0" rIns="0" bIns="0" rtlCol="0" anchor="ctr"/>
          <a:lstStyle/>
          <a:p>
            <a:pPr indent="0" marL="0">
              <a:buNone/>
            </a:pPr>
            <a:r>
              <a:rPr lang="en-US" sz="1100" spc="200" kern="0" dirty="0">
                <a:solidFill>
                  <a:srgbClr val="5FFA74"/>
                </a:solidFill>
                <a:latin typeface="Courier New" pitchFamily="34" charset="0"/>
                <a:ea typeface="Courier New" pitchFamily="34" charset="-122"/>
                <a:cs typeface="Courier New" pitchFamily="34" charset="-120"/>
              </a:rPr>
              <a:t>TODAY</a:t>
            </a:r>
            <a:endParaRPr lang="en-US" sz="1100" dirty="0"/>
          </a:p>
        </p:txBody>
      </p:sp>
      <p:sp>
        <p:nvSpPr>
          <p:cNvPr id="8" name="Text 5"/>
          <p:cNvSpPr/>
          <p:nvPr/>
        </p:nvSpPr>
        <p:spPr>
          <a:xfrm>
            <a:off x="822960" y="2295144"/>
            <a:ext cx="333756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Backend on Aiven</a:t>
            </a:r>
            <a:endParaRPr lang="en-US" sz="1900" dirty="0"/>
          </a:p>
        </p:txBody>
      </p:sp>
      <p:sp>
        <p:nvSpPr>
          <p:cNvPr id="9" name="Text 6"/>
          <p:cNvSpPr/>
          <p:nvPr/>
        </p:nvSpPr>
        <p:spPr>
          <a:xfrm>
            <a:off x="822960" y="2743200"/>
            <a:ext cx="3337560" cy="1005840"/>
          </a:xfrm>
          <a:prstGeom prst="rect">
            <a:avLst/>
          </a:prstGeom>
          <a:noFill/>
          <a:ln/>
        </p:spPr>
        <p:txBody>
          <a:bodyPr wrap="square" lIns="0" tIns="0" rIns="0" bIns="0" rtlCol="0" anchor="t"/>
          <a:lstStyle/>
          <a:p>
            <a:pPr indent="0" marL="0">
              <a:lnSpc>
                <a:spcPct val="125000"/>
              </a:lnSpc>
              <a:buNone/>
            </a:pPr>
            <a:r>
              <a:rPr lang="en-US" sz="1350" dirty="0">
                <a:solidFill>
                  <a:srgbClr val="C9CDD4"/>
                </a:solidFill>
                <a:latin typeface="Arial" pitchFamily="34" charset="0"/>
                <a:ea typeface="Arial" pitchFamily="34" charset="-122"/>
                <a:cs typeface="Arial" pitchFamily="34" charset="-120"/>
              </a:rPr>
              <a:t>Every service migrated — Postgres, Kafka, Valkey, OpenSearch. The app calls a generated, Aiven-ready API.</a:t>
            </a:r>
            <a:endParaRPr lang="en-US" sz="1350" dirty="0"/>
          </a:p>
        </p:txBody>
      </p:sp>
      <p:sp>
        <p:nvSpPr>
          <p:cNvPr id="10" name="Text 7"/>
          <p:cNvSpPr/>
          <p:nvPr/>
        </p:nvSpPr>
        <p:spPr>
          <a:xfrm>
            <a:off x="822960" y="3547872"/>
            <a:ext cx="3337560" cy="274320"/>
          </a:xfrm>
          <a:prstGeom prst="rect">
            <a:avLst/>
          </a:prstGeom>
          <a:noFill/>
          <a:ln/>
        </p:spPr>
        <p:txBody>
          <a:bodyPr wrap="square" lIns="0" tIns="0" rIns="0" bIns="0" rtlCol="0" anchor="ctr"/>
          <a:lstStyle/>
          <a:p>
            <a:pPr indent="0" marL="0">
              <a:buNone/>
            </a:pPr>
            <a:r>
              <a:rPr lang="en-US" sz="1050" dirty="0">
                <a:solidFill>
                  <a:srgbClr val="5FFA74"/>
                </a:solidFill>
                <a:latin typeface="Courier New" pitchFamily="34" charset="0"/>
                <a:ea typeface="Courier New" pitchFamily="34" charset="-122"/>
                <a:cs typeface="Courier New" pitchFamily="34" charset="-120"/>
              </a:rPr>
              <a:t>● live today</a:t>
            </a:r>
            <a:endParaRPr lang="en-US" sz="1050" dirty="0"/>
          </a:p>
        </p:txBody>
      </p:sp>
      <p:sp>
        <p:nvSpPr>
          <p:cNvPr id="11" name="Shape 8"/>
          <p:cNvSpPr/>
          <p:nvPr/>
        </p:nvSpPr>
        <p:spPr>
          <a:xfrm>
            <a:off x="4892040" y="1783080"/>
            <a:ext cx="3886200" cy="2148840"/>
          </a:xfrm>
          <a:prstGeom prst="roundRect">
            <a:avLst>
              <a:gd name="adj" fmla="val 3404"/>
            </a:avLst>
          </a:prstGeom>
          <a:solidFill>
            <a:srgbClr val="0E1219"/>
          </a:solidFill>
          <a:ln w="12700">
            <a:solidFill>
              <a:srgbClr val="5FFA74"/>
            </a:solidFill>
            <a:prstDash val="solid"/>
          </a:ln>
          <a:effectLst>
            <a:outerShdw sx="100000" sy="100000" kx="0" ky="0" algn="bl" rotWithShape="0" blurRad="114300" dist="38100" dir="5400000">
              <a:srgbClr val="000000">
                <a:alpha val="45000"/>
              </a:srgbClr>
            </a:outerShdw>
          </a:effectLst>
        </p:spPr>
      </p:sp>
      <p:sp>
        <p:nvSpPr>
          <p:cNvPr id="12" name="Text 9"/>
          <p:cNvSpPr/>
          <p:nvPr/>
        </p:nvSpPr>
        <p:spPr>
          <a:xfrm>
            <a:off x="5166360" y="2002536"/>
            <a:ext cx="3337560" cy="274320"/>
          </a:xfrm>
          <a:prstGeom prst="rect">
            <a:avLst/>
          </a:prstGeom>
          <a:noFill/>
          <a:ln/>
        </p:spPr>
        <p:txBody>
          <a:bodyPr wrap="square" lIns="0" tIns="0" rIns="0" bIns="0" rtlCol="0" anchor="ctr"/>
          <a:lstStyle/>
          <a:p>
            <a:pPr indent="0" marL="0">
              <a:buNone/>
            </a:pPr>
            <a:r>
              <a:rPr lang="en-US" sz="1100" spc="200" kern="0" dirty="0">
                <a:solidFill>
                  <a:srgbClr val="5FFA74"/>
                </a:solidFill>
                <a:latin typeface="Courier New" pitchFamily="34" charset="0"/>
                <a:ea typeface="Courier New" pitchFamily="34" charset="-122"/>
                <a:cs typeface="Courier New" pitchFamily="34" charset="-120"/>
              </a:rPr>
              <a:t>NEXT · AIVEN APPS</a:t>
            </a:r>
            <a:endParaRPr lang="en-US" sz="1100" dirty="0"/>
          </a:p>
        </p:txBody>
      </p:sp>
      <p:sp>
        <p:nvSpPr>
          <p:cNvPr id="13" name="Text 10"/>
          <p:cNvSpPr/>
          <p:nvPr/>
        </p:nvSpPr>
        <p:spPr>
          <a:xfrm>
            <a:off x="5166360" y="2295144"/>
            <a:ext cx="333756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app on Aiven too</a:t>
            </a:r>
            <a:endParaRPr lang="en-US" sz="1900" dirty="0"/>
          </a:p>
        </p:txBody>
      </p:sp>
      <p:sp>
        <p:nvSpPr>
          <p:cNvPr id="14" name="Text 11"/>
          <p:cNvSpPr/>
          <p:nvPr/>
        </p:nvSpPr>
        <p:spPr>
          <a:xfrm>
            <a:off x="5166360" y="2743200"/>
            <a:ext cx="3337560" cy="1005840"/>
          </a:xfrm>
          <a:prstGeom prst="rect">
            <a:avLst/>
          </a:prstGeom>
          <a:noFill/>
          <a:ln/>
        </p:spPr>
        <p:txBody>
          <a:bodyPr wrap="square" lIns="0" tIns="0" rIns="0" bIns="0" rtlCol="0" anchor="t"/>
          <a:lstStyle/>
          <a:p>
            <a:pPr indent="0" marL="0">
              <a:lnSpc>
                <a:spcPct val="125000"/>
              </a:lnSpc>
              <a:buNone/>
            </a:pPr>
            <a:r>
              <a:rPr lang="en-US" sz="1350" dirty="0">
                <a:solidFill>
                  <a:srgbClr val="C9CDD4"/>
                </a:solidFill>
                <a:latin typeface="Arial" pitchFamily="34" charset="0"/>
                <a:ea typeface="Arial" pitchFamily="34" charset="-122"/>
                <a:cs typeface="Arial" pitchFamily="34" charset="-120"/>
              </a:rPr>
              <a:t>When Aiven ships app hosting, the same crew moves the frontend + API across — 100% of the stack on one platform.</a:t>
            </a:r>
            <a:endParaRPr lang="en-US" sz="1350" dirty="0"/>
          </a:p>
        </p:txBody>
      </p:sp>
      <p:sp>
        <p:nvSpPr>
          <p:cNvPr id="15" name="Text 12"/>
          <p:cNvSpPr/>
          <p:nvPr/>
        </p:nvSpPr>
        <p:spPr>
          <a:xfrm>
            <a:off x="5166360" y="3547872"/>
            <a:ext cx="3337560" cy="274320"/>
          </a:xfrm>
          <a:prstGeom prst="rect">
            <a:avLst/>
          </a:prstGeom>
          <a:noFill/>
          <a:ln/>
        </p:spPr>
        <p:txBody>
          <a:bodyPr wrap="square" lIns="0" tIns="0" rIns="0" bIns="0" rtlCol="0" anchor="ctr"/>
          <a:lstStyle/>
          <a:p>
            <a:pPr indent="0" marL="0">
              <a:buNone/>
            </a:pPr>
            <a:r>
              <a:rPr lang="en-US" sz="1050" dirty="0">
                <a:solidFill>
                  <a:srgbClr val="8C919A"/>
                </a:solidFill>
                <a:latin typeface="Courier New" pitchFamily="34" charset="0"/>
                <a:ea typeface="Courier New" pitchFamily="34" charset="-122"/>
                <a:cs typeface="Courier New" pitchFamily="34" charset="-120"/>
              </a:rPr>
              <a:t>○ unlock</a:t>
            </a:r>
            <a:endParaRPr lang="en-US" sz="1050" dirty="0"/>
          </a:p>
        </p:txBody>
      </p:sp>
      <p:sp>
        <p:nvSpPr>
          <p:cNvPr id="16" name="Text 13"/>
          <p:cNvSpPr/>
          <p:nvPr/>
        </p:nvSpPr>
        <p:spPr>
          <a:xfrm>
            <a:off x="4416552" y="2628900"/>
            <a:ext cx="493776" cy="457200"/>
          </a:xfrm>
          <a:prstGeom prst="rect">
            <a:avLst/>
          </a:prstGeom>
          <a:noFill/>
          <a:ln/>
        </p:spPr>
        <p:txBody>
          <a:bodyPr wrap="square" lIns="0" tIns="0" rIns="0" bIns="0" rtlCol="0" anchor="ctr"/>
          <a:lstStyle/>
          <a:p>
            <a:pPr algn="ctr" indent="0" marL="0">
              <a:buNone/>
            </a:pPr>
            <a:r>
              <a:rPr lang="en-US" sz="2200" b="1" dirty="0">
                <a:solidFill>
                  <a:srgbClr val="5FFA74"/>
                </a:solidFill>
                <a:latin typeface="Arial" pitchFamily="34" charset="0"/>
                <a:ea typeface="Arial" pitchFamily="34" charset="-122"/>
                <a:cs typeface="Arial" pitchFamily="34" charset="-120"/>
              </a:rPr>
              <a:t>→</a:t>
            </a:r>
            <a:endParaRPr lang="en-US" sz="2200" dirty="0"/>
          </a:p>
        </p:txBody>
      </p:sp>
      <p:sp>
        <p:nvSpPr>
          <p:cNvPr id="17" name="Text 14"/>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every existing vibe-coded app — one migration away from all-Aiven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THE STRATEGIC PAYLOAD</a:t>
            </a:r>
            <a:endParaRPr lang="en-US" sz="1050" dirty="0"/>
          </a:p>
        </p:txBody>
      </p:sp>
      <p:sp>
        <p:nvSpPr>
          <p:cNvPr id="5" name="Text 2"/>
          <p:cNvSpPr/>
          <p:nvPr/>
        </p:nvSpPr>
        <p:spPr>
          <a:xfrm>
            <a:off x="548640" y="822960"/>
            <a:ext cx="8046720" cy="868680"/>
          </a:xfrm>
          <a:prstGeom prst="rect">
            <a:avLst/>
          </a:prstGeom>
          <a:noFill/>
          <a:ln/>
        </p:spPr>
        <p:txBody>
          <a:bodyPr wrap="square" lIns="0" tIns="0" rIns="0" bIns="0" rtlCol="0" anchor="ctr"/>
          <a:lstStyle/>
          <a:p>
            <a:pPr indent="0" marL="0">
              <a:lnSpc>
                <a:spcPct val="105000"/>
              </a:lnSpc>
              <a:buNone/>
            </a:pPr>
            <a:r>
              <a:rPr lang="en-US" sz="2700" b="1" dirty="0">
                <a:solidFill>
                  <a:srgbClr val="FFFFFF"/>
                </a:solidFill>
                <a:latin typeface="Arial" pitchFamily="34" charset="0"/>
                <a:ea typeface="Arial" pitchFamily="34" charset="-122"/>
                <a:cs typeface="Arial" pitchFamily="34" charset="-120"/>
              </a:rPr>
              <a:t>Build four things, and every app is a </a:t>
            </a:r>
            <a:pPr indent="0" marL="0">
              <a:lnSpc>
                <a:spcPct val="105000"/>
              </a:lnSpc>
              <a:buNone/>
            </a:pPr>
            <a:r>
              <a:rPr lang="en-US" sz="2700" b="1" dirty="0">
                <a:solidFill>
                  <a:srgbClr val="5FFA74"/>
                </a:solidFill>
                <a:latin typeface="Arial" pitchFamily="34" charset="0"/>
                <a:ea typeface="Arial" pitchFamily="34" charset="-122"/>
                <a:cs typeface="Arial" pitchFamily="34" charset="-120"/>
              </a:rPr>
              <a:t>migration</a:t>
            </a:r>
            <a:pPr indent="0" marL="0">
              <a:lnSpc>
                <a:spcPct val="105000"/>
              </a:lnSpc>
              <a:buNone/>
            </a:pPr>
            <a:r>
              <a:rPr lang="en-US" sz="2700" b="1" dirty="0">
                <a:solidFill>
                  <a:srgbClr val="FFFFFF"/>
                </a:solidFill>
                <a:latin typeface="Arial" pitchFamily="34" charset="0"/>
                <a:ea typeface="Arial" pitchFamily="34" charset="-122"/>
                <a:cs typeface="Arial" pitchFamily="34" charset="-120"/>
              </a:rPr>
              <a:t> away from Aiven.</a:t>
            </a:r>
            <a:endParaRPr lang="en-US" sz="2700" dirty="0"/>
          </a:p>
        </p:txBody>
      </p:sp>
      <p:sp>
        <p:nvSpPr>
          <p:cNvPr id="6" name="Shape 3"/>
          <p:cNvSpPr/>
          <p:nvPr/>
        </p:nvSpPr>
        <p:spPr>
          <a:xfrm>
            <a:off x="548640" y="1975104"/>
            <a:ext cx="3886200" cy="1170432"/>
          </a:xfrm>
          <a:prstGeom prst="roundRect">
            <a:avLst>
              <a:gd name="adj" fmla="val 6250"/>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7" name="Shape 4"/>
          <p:cNvSpPr/>
          <p:nvPr/>
        </p:nvSpPr>
        <p:spPr>
          <a:xfrm>
            <a:off x="786384" y="2212848"/>
            <a:ext cx="365760" cy="365760"/>
          </a:xfrm>
          <a:prstGeom prst="ellipse">
            <a:avLst/>
          </a:prstGeom>
          <a:solidFill>
            <a:srgbClr val="5FFA74"/>
          </a:solidFill>
          <a:ln/>
        </p:spPr>
      </p:sp>
      <p:sp>
        <p:nvSpPr>
          <p:cNvPr id="8" name="Text 5"/>
          <p:cNvSpPr/>
          <p:nvPr/>
        </p:nvSpPr>
        <p:spPr>
          <a:xfrm>
            <a:off x="786384" y="2212848"/>
            <a:ext cx="365760" cy="365760"/>
          </a:xfrm>
          <a:prstGeom prst="rect">
            <a:avLst/>
          </a:prstGeom>
          <a:noFill/>
          <a:ln/>
        </p:spPr>
        <p:txBody>
          <a:bodyPr wrap="square" lIns="0" tIns="0" rIns="0" bIns="0" rtlCol="0" anchor="ctr"/>
          <a:lstStyle/>
          <a:p>
            <a:pPr algn="ctr" indent="0" marL="0">
              <a:buNone/>
            </a:pPr>
            <a:r>
              <a:rPr lang="en-US" sz="1400" b="1" dirty="0">
                <a:solidFill>
                  <a:srgbClr val="05080F"/>
                </a:solidFill>
                <a:latin typeface="Arial" pitchFamily="34" charset="0"/>
                <a:ea typeface="Arial" pitchFamily="34" charset="-122"/>
                <a:cs typeface="Arial" pitchFamily="34" charset="-120"/>
              </a:rPr>
              <a:t>1</a:t>
            </a:r>
            <a:endParaRPr lang="en-US" sz="1400" dirty="0"/>
          </a:p>
        </p:txBody>
      </p:sp>
      <p:sp>
        <p:nvSpPr>
          <p:cNvPr id="9" name="Text 6"/>
          <p:cNvSpPr/>
          <p:nvPr/>
        </p:nvSpPr>
        <p:spPr>
          <a:xfrm>
            <a:off x="1280160" y="2194560"/>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Aiven for Object Storage</a:t>
            </a:r>
            <a:endParaRPr lang="en-US" sz="1500" dirty="0"/>
          </a:p>
        </p:txBody>
      </p:sp>
      <p:sp>
        <p:nvSpPr>
          <p:cNvPr id="10" name="Text 7"/>
          <p:cNvSpPr/>
          <p:nvPr/>
        </p:nvSpPr>
        <p:spPr>
          <a:xfrm>
            <a:off x="1280160" y="2542032"/>
            <a:ext cx="2953512" cy="457200"/>
          </a:xfrm>
          <a:prstGeom prst="rect">
            <a:avLst/>
          </a:prstGeom>
          <a:noFill/>
          <a:ln/>
        </p:spPr>
        <p:txBody>
          <a:bodyPr wrap="square" lIns="0" tIns="0" rIns="0" bIns="0" rtlCol="0" anchor="t"/>
          <a:lstStyle/>
          <a:p>
            <a:pPr indent="0" marL="0">
              <a:lnSpc>
                <a:spcPct val="110000"/>
              </a:lnSpc>
              <a:buNone/>
            </a:pPr>
            <a:r>
              <a:rPr lang="en-US" sz="1250" dirty="0">
                <a:solidFill>
                  <a:srgbClr val="C9CDD4"/>
                </a:solidFill>
                <a:latin typeface="Arial" pitchFamily="34" charset="0"/>
                <a:ea typeface="Arial" pitchFamily="34" charset="-122"/>
                <a:cs typeface="Arial" pitchFamily="34" charset="-120"/>
              </a:rPr>
              <a:t>an S3-compatible store — closes the Storage gap</a:t>
            </a:r>
            <a:endParaRPr lang="en-US" sz="1250" dirty="0"/>
          </a:p>
        </p:txBody>
      </p:sp>
      <p:sp>
        <p:nvSpPr>
          <p:cNvPr id="11" name="Shape 8"/>
          <p:cNvSpPr/>
          <p:nvPr/>
        </p:nvSpPr>
        <p:spPr>
          <a:xfrm>
            <a:off x="4709160" y="1975104"/>
            <a:ext cx="3886200" cy="1170432"/>
          </a:xfrm>
          <a:prstGeom prst="roundRect">
            <a:avLst>
              <a:gd name="adj" fmla="val 6250"/>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12" name="Shape 9"/>
          <p:cNvSpPr/>
          <p:nvPr/>
        </p:nvSpPr>
        <p:spPr>
          <a:xfrm>
            <a:off x="4946904" y="2212848"/>
            <a:ext cx="365760" cy="365760"/>
          </a:xfrm>
          <a:prstGeom prst="ellipse">
            <a:avLst/>
          </a:prstGeom>
          <a:solidFill>
            <a:srgbClr val="5FFA74"/>
          </a:solidFill>
          <a:ln/>
        </p:spPr>
      </p:sp>
      <p:sp>
        <p:nvSpPr>
          <p:cNvPr id="13" name="Text 10"/>
          <p:cNvSpPr/>
          <p:nvPr/>
        </p:nvSpPr>
        <p:spPr>
          <a:xfrm>
            <a:off x="4946904" y="2212848"/>
            <a:ext cx="365760" cy="365760"/>
          </a:xfrm>
          <a:prstGeom prst="rect">
            <a:avLst/>
          </a:prstGeom>
          <a:noFill/>
          <a:ln/>
        </p:spPr>
        <p:txBody>
          <a:bodyPr wrap="square" lIns="0" tIns="0" rIns="0" bIns="0" rtlCol="0" anchor="ctr"/>
          <a:lstStyle/>
          <a:p>
            <a:pPr algn="ctr" indent="0" marL="0">
              <a:buNone/>
            </a:pPr>
            <a:r>
              <a:rPr lang="en-US" sz="1400" b="1" dirty="0">
                <a:solidFill>
                  <a:srgbClr val="05080F"/>
                </a:solidFill>
                <a:latin typeface="Arial" pitchFamily="34" charset="0"/>
                <a:ea typeface="Arial" pitchFamily="34" charset="-122"/>
                <a:cs typeface="Arial" pitchFamily="34" charset="-120"/>
              </a:rPr>
              <a:t>2</a:t>
            </a:r>
            <a:endParaRPr lang="en-US" sz="1400" dirty="0"/>
          </a:p>
        </p:txBody>
      </p:sp>
      <p:sp>
        <p:nvSpPr>
          <p:cNvPr id="14" name="Text 11"/>
          <p:cNvSpPr/>
          <p:nvPr/>
        </p:nvSpPr>
        <p:spPr>
          <a:xfrm>
            <a:off x="5440680" y="2194560"/>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Managed auth</a:t>
            </a:r>
            <a:endParaRPr lang="en-US" sz="1500" dirty="0"/>
          </a:p>
        </p:txBody>
      </p:sp>
      <p:sp>
        <p:nvSpPr>
          <p:cNvPr id="15" name="Text 12"/>
          <p:cNvSpPr/>
          <p:nvPr/>
        </p:nvSpPr>
        <p:spPr>
          <a:xfrm>
            <a:off x="5440680" y="2542032"/>
            <a:ext cx="2953512" cy="457200"/>
          </a:xfrm>
          <a:prstGeom prst="rect">
            <a:avLst/>
          </a:prstGeom>
          <a:noFill/>
          <a:ln/>
        </p:spPr>
        <p:txBody>
          <a:bodyPr wrap="square" lIns="0" tIns="0" rIns="0" bIns="0" rtlCol="0" anchor="t"/>
          <a:lstStyle/>
          <a:p>
            <a:pPr indent="0" marL="0">
              <a:lnSpc>
                <a:spcPct val="110000"/>
              </a:lnSpc>
              <a:buNone/>
            </a:pPr>
            <a:r>
              <a:rPr lang="en-US" sz="1250" dirty="0">
                <a:solidFill>
                  <a:srgbClr val="C9CDD4"/>
                </a:solidFill>
                <a:latin typeface="Arial" pitchFamily="34" charset="0"/>
                <a:ea typeface="Arial" pitchFamily="34" charset="-122"/>
                <a:cs typeface="Arial" pitchFamily="34" charset="-120"/>
              </a:rPr>
              <a:t>hosted GoTrue on Aiven Postgres — a zero-code swap</a:t>
            </a:r>
            <a:endParaRPr lang="en-US" sz="1250" dirty="0"/>
          </a:p>
        </p:txBody>
      </p:sp>
      <p:sp>
        <p:nvSpPr>
          <p:cNvPr id="16" name="Shape 13"/>
          <p:cNvSpPr/>
          <p:nvPr/>
        </p:nvSpPr>
        <p:spPr>
          <a:xfrm>
            <a:off x="548640" y="3364992"/>
            <a:ext cx="3886200" cy="1170432"/>
          </a:xfrm>
          <a:prstGeom prst="roundRect">
            <a:avLst>
              <a:gd name="adj" fmla="val 6250"/>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17" name="Shape 14"/>
          <p:cNvSpPr/>
          <p:nvPr/>
        </p:nvSpPr>
        <p:spPr>
          <a:xfrm>
            <a:off x="786384" y="3602736"/>
            <a:ext cx="365760" cy="365760"/>
          </a:xfrm>
          <a:prstGeom prst="ellipse">
            <a:avLst/>
          </a:prstGeom>
          <a:solidFill>
            <a:srgbClr val="5FFA74"/>
          </a:solidFill>
          <a:ln/>
        </p:spPr>
      </p:sp>
      <p:sp>
        <p:nvSpPr>
          <p:cNvPr id="18" name="Text 15"/>
          <p:cNvSpPr/>
          <p:nvPr/>
        </p:nvSpPr>
        <p:spPr>
          <a:xfrm>
            <a:off x="786384" y="3602736"/>
            <a:ext cx="365760" cy="365760"/>
          </a:xfrm>
          <a:prstGeom prst="rect">
            <a:avLst/>
          </a:prstGeom>
          <a:noFill/>
          <a:ln/>
        </p:spPr>
        <p:txBody>
          <a:bodyPr wrap="square" lIns="0" tIns="0" rIns="0" bIns="0" rtlCol="0" anchor="ctr"/>
          <a:lstStyle/>
          <a:p>
            <a:pPr algn="ctr" indent="0" marL="0">
              <a:buNone/>
            </a:pPr>
            <a:r>
              <a:rPr lang="en-US" sz="1400" b="1" dirty="0">
                <a:solidFill>
                  <a:srgbClr val="05080F"/>
                </a:solidFill>
                <a:latin typeface="Arial" pitchFamily="34" charset="0"/>
                <a:ea typeface="Arial" pitchFamily="34" charset="-122"/>
                <a:cs typeface="Arial" pitchFamily="34" charset="-120"/>
              </a:rPr>
              <a:t>3</a:t>
            </a:r>
            <a:endParaRPr lang="en-US" sz="1400" dirty="0"/>
          </a:p>
        </p:txBody>
      </p:sp>
      <p:sp>
        <p:nvSpPr>
          <p:cNvPr id="19" name="Text 16"/>
          <p:cNvSpPr/>
          <p:nvPr/>
        </p:nvSpPr>
        <p:spPr>
          <a:xfrm>
            <a:off x="1280160" y="3584448"/>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Managed realtime</a:t>
            </a:r>
            <a:endParaRPr lang="en-US" sz="1500" dirty="0"/>
          </a:p>
        </p:txBody>
      </p:sp>
      <p:sp>
        <p:nvSpPr>
          <p:cNvPr id="20" name="Text 17"/>
          <p:cNvSpPr/>
          <p:nvPr/>
        </p:nvSpPr>
        <p:spPr>
          <a:xfrm>
            <a:off x="1280160" y="3931920"/>
            <a:ext cx="2953512" cy="457200"/>
          </a:xfrm>
          <a:prstGeom prst="rect">
            <a:avLst/>
          </a:prstGeom>
          <a:noFill/>
          <a:ln/>
        </p:spPr>
        <p:txBody>
          <a:bodyPr wrap="square" lIns="0" tIns="0" rIns="0" bIns="0" rtlCol="0" anchor="t"/>
          <a:lstStyle/>
          <a:p>
            <a:pPr indent="0" marL="0">
              <a:lnSpc>
                <a:spcPct val="110000"/>
              </a:lnSpc>
              <a:buNone/>
            </a:pPr>
            <a:r>
              <a:rPr lang="en-US" sz="1250" dirty="0">
                <a:solidFill>
                  <a:srgbClr val="C9CDD4"/>
                </a:solidFill>
                <a:latin typeface="Arial" pitchFamily="34" charset="0"/>
                <a:ea typeface="Arial" pitchFamily="34" charset="-122"/>
                <a:cs typeface="Arial" pitchFamily="34" charset="-120"/>
              </a:rPr>
              <a:t>a Postgres-changes → Kafka / websocket bridge</a:t>
            </a:r>
            <a:endParaRPr lang="en-US" sz="1250" dirty="0"/>
          </a:p>
        </p:txBody>
      </p:sp>
      <p:sp>
        <p:nvSpPr>
          <p:cNvPr id="21" name="Shape 18"/>
          <p:cNvSpPr/>
          <p:nvPr/>
        </p:nvSpPr>
        <p:spPr>
          <a:xfrm>
            <a:off x="4709160" y="3364992"/>
            <a:ext cx="3886200" cy="1170432"/>
          </a:xfrm>
          <a:prstGeom prst="roundRect">
            <a:avLst>
              <a:gd name="adj" fmla="val 6250"/>
            </a:avLst>
          </a:prstGeom>
          <a:solidFill>
            <a:srgbClr val="0E1219"/>
          </a:solidFill>
          <a:ln w="12700">
            <a:solidFill>
              <a:srgbClr val="23282F"/>
            </a:solidFill>
            <a:prstDash val="solid"/>
          </a:ln>
          <a:effectLst>
            <a:outerShdw sx="100000" sy="100000" kx="0" ky="0" algn="bl" rotWithShape="0" blurRad="114300" dist="38100" dir="5400000">
              <a:srgbClr val="000000">
                <a:alpha val="45000"/>
              </a:srgbClr>
            </a:outerShdw>
          </a:effectLst>
        </p:spPr>
      </p:sp>
      <p:sp>
        <p:nvSpPr>
          <p:cNvPr id="22" name="Shape 19"/>
          <p:cNvSpPr/>
          <p:nvPr/>
        </p:nvSpPr>
        <p:spPr>
          <a:xfrm>
            <a:off x="4946904" y="3602736"/>
            <a:ext cx="365760" cy="365760"/>
          </a:xfrm>
          <a:prstGeom prst="ellipse">
            <a:avLst/>
          </a:prstGeom>
          <a:solidFill>
            <a:srgbClr val="5FFA74"/>
          </a:solidFill>
          <a:ln/>
        </p:spPr>
      </p:sp>
      <p:sp>
        <p:nvSpPr>
          <p:cNvPr id="23" name="Text 20"/>
          <p:cNvSpPr/>
          <p:nvPr/>
        </p:nvSpPr>
        <p:spPr>
          <a:xfrm>
            <a:off x="4946904" y="3602736"/>
            <a:ext cx="365760" cy="365760"/>
          </a:xfrm>
          <a:prstGeom prst="rect">
            <a:avLst/>
          </a:prstGeom>
          <a:noFill/>
          <a:ln/>
        </p:spPr>
        <p:txBody>
          <a:bodyPr wrap="square" lIns="0" tIns="0" rIns="0" bIns="0" rtlCol="0" anchor="ctr"/>
          <a:lstStyle/>
          <a:p>
            <a:pPr algn="ctr" indent="0" marL="0">
              <a:buNone/>
            </a:pPr>
            <a:r>
              <a:rPr lang="en-US" sz="1400" b="1" dirty="0">
                <a:solidFill>
                  <a:srgbClr val="05080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5440680" y="3584448"/>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MCP migrate command</a:t>
            </a:r>
            <a:endParaRPr lang="en-US" sz="1500" dirty="0"/>
          </a:p>
        </p:txBody>
      </p:sp>
      <p:sp>
        <p:nvSpPr>
          <p:cNvPr id="25" name="Text 22"/>
          <p:cNvSpPr/>
          <p:nvPr/>
        </p:nvSpPr>
        <p:spPr>
          <a:xfrm>
            <a:off x="5440680" y="3931920"/>
            <a:ext cx="2953512" cy="457200"/>
          </a:xfrm>
          <a:prstGeom prst="rect">
            <a:avLst/>
          </a:prstGeom>
          <a:noFill/>
          <a:ln/>
        </p:spPr>
        <p:txBody>
          <a:bodyPr wrap="square" lIns="0" tIns="0" rIns="0" bIns="0" rtlCol="0" anchor="t"/>
          <a:lstStyle/>
          <a:p>
            <a:pPr indent="0" marL="0">
              <a:lnSpc>
                <a:spcPct val="110000"/>
              </a:lnSpc>
              <a:buNone/>
            </a:pPr>
            <a:r>
              <a:rPr lang="en-US" sz="1250" dirty="0">
                <a:solidFill>
                  <a:srgbClr val="C9CDD4"/>
                </a:solidFill>
                <a:latin typeface="Arial" pitchFamily="34" charset="0"/>
                <a:ea typeface="Arial" pitchFamily="34" charset="-122"/>
                <a:cs typeface="Arial" pitchFamily="34" charset="-120"/>
              </a:rPr>
              <a:t>onboard any app from any default in one step</a:t>
            </a:r>
            <a:endParaRPr lang="en-US" sz="1250" dirty="0"/>
          </a:p>
        </p:txBody>
      </p:sp>
      <p:sp>
        <p:nvSpPr>
          <p:cNvPr id="26" name="Text 23"/>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a slice of the $10.5B+ vibe-coding backend market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80F"/>
        </a:solidFill>
      </p:bgPr>
    </p:bg>
    <p:spTree>
      <p:nvGrpSpPr>
        <p:cNvPr id="1" name=""/>
        <p:cNvGrpSpPr/>
        <p:nvPr/>
      </p:nvGrpSpPr>
      <p:grpSpPr>
        <a:xfrm>
          <a:off x="0" y="0"/>
          <a:ext cx="0" cy="0"/>
          <a:chOff x="0" y="0"/>
          <a:chExt cx="0" cy="0"/>
        </a:xfrm>
      </p:grpSpPr>
      <p:sp>
        <p:nvSpPr>
          <p:cNvPr id="3" name="Shape 0"/>
          <p:cNvSpPr/>
          <p:nvPr/>
        </p:nvSpPr>
        <p:spPr>
          <a:xfrm>
            <a:off x="548640" y="420624"/>
            <a:ext cx="109728" cy="109728"/>
          </a:xfrm>
          <a:prstGeom prst="ellipse">
            <a:avLst/>
          </a:prstGeom>
          <a:solidFill>
            <a:srgbClr val="5FFA74"/>
          </a:solidFill>
          <a:ln/>
        </p:spPr>
      </p:sp>
      <p:sp>
        <p:nvSpPr>
          <p:cNvPr id="4" name="Text 1"/>
          <p:cNvSpPr/>
          <p:nvPr/>
        </p:nvSpPr>
        <p:spPr>
          <a:xfrm>
            <a:off x="749808" y="384048"/>
            <a:ext cx="7772400" cy="237744"/>
          </a:xfrm>
          <a:prstGeom prst="rect">
            <a:avLst/>
          </a:prstGeom>
          <a:noFill/>
          <a:ln/>
        </p:spPr>
        <p:txBody>
          <a:bodyPr wrap="square" lIns="0" tIns="0" rIns="0" bIns="0" rtlCol="0" anchor="ctr"/>
          <a:lstStyle/>
          <a:p>
            <a:pPr indent="0" marL="0">
              <a:buNone/>
            </a:pPr>
            <a:r>
              <a:rPr lang="en-US" sz="1050" spc="200" kern="0" dirty="0">
                <a:solidFill>
                  <a:srgbClr val="8C919A"/>
                </a:solidFill>
                <a:latin typeface="Courier New" pitchFamily="34" charset="0"/>
                <a:ea typeface="Courier New" pitchFamily="34" charset="-122"/>
                <a:cs typeface="Courier New" pitchFamily="34" charset="-120"/>
              </a:rPr>
              <a:t>SWITCHBOARD · VIBE DEPLOY</a:t>
            </a:r>
            <a:endParaRPr lang="en-US" sz="1050" dirty="0"/>
          </a:p>
        </p:txBody>
      </p:sp>
      <p:sp>
        <p:nvSpPr>
          <p:cNvPr id="5" name="Text 2"/>
          <p:cNvSpPr/>
          <p:nvPr/>
        </p:nvSpPr>
        <p:spPr>
          <a:xfrm>
            <a:off x="548640" y="1078992"/>
            <a:ext cx="8046720" cy="1737360"/>
          </a:xfrm>
          <a:prstGeom prst="rect">
            <a:avLst/>
          </a:prstGeom>
          <a:noFill/>
          <a:ln/>
        </p:spPr>
        <p:txBody>
          <a:bodyPr wrap="square" lIns="0" tIns="0" rIns="0" bIns="0" rtlCol="0" anchor="ctr"/>
          <a:lstStyle/>
          <a:p>
            <a:pPr indent="0" marL="0">
              <a:lnSpc>
                <a:spcPct val="108000"/>
              </a:lnSpc>
              <a:buNone/>
            </a:pPr>
            <a:r>
              <a:rPr lang="en-US" sz="3500" b="1" dirty="0">
                <a:solidFill>
                  <a:srgbClr val="FFFFFF"/>
                </a:solidFill>
                <a:latin typeface="Arial" pitchFamily="34" charset="0"/>
                <a:ea typeface="Arial" pitchFamily="34" charset="-122"/>
                <a:cs typeface="Arial" pitchFamily="34" charset="-120"/>
              </a:rPr>
              <a:t>The defaults own the start.
</a:t>
            </a:r>
            <a:pPr indent="0" marL="0">
              <a:lnSpc>
                <a:spcPct val="108000"/>
              </a:lnSpc>
              <a:buNone/>
            </a:pPr>
            <a:r>
              <a:rPr lang="en-US" sz="3500" b="1" dirty="0">
                <a:solidFill>
                  <a:srgbClr val="FFFFFF"/>
                </a:solidFill>
                <a:latin typeface="Arial" pitchFamily="34" charset="0"/>
                <a:ea typeface="Arial" pitchFamily="34" charset="-122"/>
                <a:cs typeface="Arial" pitchFamily="34" charset="-120"/>
              </a:rPr>
              <a:t>Switchboard makes </a:t>
            </a:r>
            <a:pPr indent="0" marL="0">
              <a:lnSpc>
                <a:spcPct val="108000"/>
              </a:lnSpc>
              <a:buNone/>
            </a:pPr>
            <a:r>
              <a:rPr lang="en-US" sz="3500" b="1" dirty="0">
                <a:solidFill>
                  <a:srgbClr val="5FFA74"/>
                </a:solidFill>
                <a:latin typeface="Arial" pitchFamily="34" charset="0"/>
                <a:ea typeface="Arial" pitchFamily="34" charset="-122"/>
                <a:cs typeface="Arial" pitchFamily="34" charset="-120"/>
              </a:rPr>
              <a:t>Aiven the destination.</a:t>
            </a:r>
            <a:endParaRPr lang="en-US" sz="3500" dirty="0"/>
          </a:p>
        </p:txBody>
      </p:sp>
      <p:sp>
        <p:nvSpPr>
          <p:cNvPr id="6" name="Text 3"/>
          <p:cNvSpPr/>
          <p:nvPr/>
        </p:nvSpPr>
        <p:spPr>
          <a:xfrm>
            <a:off x="548640" y="3063240"/>
            <a:ext cx="8046720" cy="457200"/>
          </a:xfrm>
          <a:prstGeom prst="rect">
            <a:avLst/>
          </a:prstGeom>
          <a:noFill/>
          <a:ln/>
        </p:spPr>
        <p:txBody>
          <a:bodyPr wrap="square" lIns="0" tIns="0" rIns="0" bIns="0" rtlCol="0" anchor="ctr"/>
          <a:lstStyle/>
          <a:p>
            <a:pPr indent="0" marL="0">
              <a:buNone/>
            </a:pPr>
            <a:r>
              <a:rPr lang="en-US" sz="1600" dirty="0">
                <a:solidFill>
                  <a:srgbClr val="C9CDD4"/>
                </a:solidFill>
                <a:latin typeface="Arial" pitchFamily="34" charset="0"/>
                <a:ea typeface="Arial" pitchFamily="34" charset="-122"/>
                <a:cs typeface="Arial" pitchFamily="34" charset="-120"/>
              </a:rPr>
              <a:t>The whole stack, on Aiven — autonomously, through the MCP. Proven on Postgres today; every service next.</a:t>
            </a:r>
            <a:endParaRPr lang="en-US" sz="1600" dirty="0"/>
          </a:p>
        </p:txBody>
      </p:sp>
      <p:sp>
        <p:nvSpPr>
          <p:cNvPr id="7" name="Text 4"/>
          <p:cNvSpPr/>
          <p:nvPr/>
        </p:nvSpPr>
        <p:spPr>
          <a:xfrm>
            <a:off x="548640" y="3968496"/>
            <a:ext cx="1554480" cy="292608"/>
          </a:xfrm>
          <a:prstGeom prst="rect">
            <a:avLst/>
          </a:prstGeom>
          <a:noFill/>
          <a:ln/>
        </p:spPr>
        <p:txBody>
          <a:bodyPr wrap="square" lIns="0" tIns="0" rIns="0" bIns="0" rtlCol="0" anchor="ctr"/>
          <a:lstStyle/>
          <a:p>
            <a:pPr indent="0" marL="0">
              <a:buNone/>
            </a:pPr>
            <a:r>
              <a:rPr lang="en-US" sz="1100" spc="100" kern="0" dirty="0">
                <a:solidFill>
                  <a:srgbClr val="8C919A"/>
                </a:solidFill>
                <a:latin typeface="Courier New" pitchFamily="34" charset="0"/>
                <a:ea typeface="Courier New" pitchFamily="34" charset="-122"/>
                <a:cs typeface="Courier New" pitchFamily="34" charset="-120"/>
              </a:rPr>
              <a:t>ANY BACKEND</a:t>
            </a:r>
            <a:endParaRPr lang="en-US" sz="1100" dirty="0"/>
          </a:p>
        </p:txBody>
      </p:sp>
      <p:sp>
        <p:nvSpPr>
          <p:cNvPr id="8" name="Shape 5"/>
          <p:cNvSpPr/>
          <p:nvPr/>
        </p:nvSpPr>
        <p:spPr>
          <a:xfrm>
            <a:off x="2331720" y="4114800"/>
            <a:ext cx="3931920" cy="0"/>
          </a:xfrm>
          <a:prstGeom prst="line">
            <a:avLst/>
          </a:prstGeom>
          <a:noFill/>
          <a:ln w="19050">
            <a:solidFill>
              <a:srgbClr val="23282F"/>
            </a:solidFill>
            <a:prstDash val="solid"/>
          </a:ln>
        </p:spPr>
      </p:sp>
      <p:sp>
        <p:nvSpPr>
          <p:cNvPr id="9" name="Shape 6"/>
          <p:cNvSpPr/>
          <p:nvPr/>
        </p:nvSpPr>
        <p:spPr>
          <a:xfrm>
            <a:off x="2258568" y="4041648"/>
            <a:ext cx="146304" cy="146304"/>
          </a:xfrm>
          <a:prstGeom prst="ellipse">
            <a:avLst/>
          </a:prstGeom>
          <a:solidFill>
            <a:srgbClr val="6F64FF"/>
          </a:solidFill>
          <a:ln w="19050">
            <a:solidFill>
              <a:srgbClr val="05080F"/>
            </a:solidFill>
            <a:prstDash val="solid"/>
          </a:ln>
        </p:spPr>
      </p:sp>
      <p:sp>
        <p:nvSpPr>
          <p:cNvPr id="10" name="Shape 7"/>
          <p:cNvSpPr/>
          <p:nvPr/>
        </p:nvSpPr>
        <p:spPr>
          <a:xfrm>
            <a:off x="3012948" y="4041648"/>
            <a:ext cx="146304" cy="146304"/>
          </a:xfrm>
          <a:prstGeom prst="ellipse">
            <a:avLst/>
          </a:prstGeom>
          <a:solidFill>
            <a:srgbClr val="F85149"/>
          </a:solidFill>
          <a:ln w="19050">
            <a:solidFill>
              <a:srgbClr val="05080F"/>
            </a:solidFill>
            <a:prstDash val="solid"/>
          </a:ln>
        </p:spPr>
      </p:sp>
      <p:sp>
        <p:nvSpPr>
          <p:cNvPr id="11" name="Shape 8"/>
          <p:cNvSpPr/>
          <p:nvPr/>
        </p:nvSpPr>
        <p:spPr>
          <a:xfrm>
            <a:off x="3767328" y="4041648"/>
            <a:ext cx="146304" cy="146304"/>
          </a:xfrm>
          <a:prstGeom prst="ellipse">
            <a:avLst/>
          </a:prstGeom>
          <a:solidFill>
            <a:srgbClr val="DF56F2"/>
          </a:solidFill>
          <a:ln w="19050">
            <a:solidFill>
              <a:srgbClr val="05080F"/>
            </a:solidFill>
            <a:prstDash val="solid"/>
          </a:ln>
        </p:spPr>
      </p:sp>
      <p:sp>
        <p:nvSpPr>
          <p:cNvPr id="12" name="Shape 9"/>
          <p:cNvSpPr/>
          <p:nvPr/>
        </p:nvSpPr>
        <p:spPr>
          <a:xfrm>
            <a:off x="4521708" y="4041648"/>
            <a:ext cx="146304" cy="146304"/>
          </a:xfrm>
          <a:prstGeom prst="ellipse">
            <a:avLst/>
          </a:prstGeom>
          <a:solidFill>
            <a:srgbClr val="2ED0CD"/>
          </a:solidFill>
          <a:ln w="19050">
            <a:solidFill>
              <a:srgbClr val="05080F"/>
            </a:solidFill>
            <a:prstDash val="solid"/>
          </a:ln>
        </p:spPr>
      </p:sp>
      <p:sp>
        <p:nvSpPr>
          <p:cNvPr id="13" name="Shape 10"/>
          <p:cNvSpPr/>
          <p:nvPr/>
        </p:nvSpPr>
        <p:spPr>
          <a:xfrm>
            <a:off x="5276088" y="4041648"/>
            <a:ext cx="146304" cy="146304"/>
          </a:xfrm>
          <a:prstGeom prst="ellipse">
            <a:avLst/>
          </a:prstGeom>
          <a:solidFill>
            <a:srgbClr val="FDCD12"/>
          </a:solidFill>
          <a:ln w="19050">
            <a:solidFill>
              <a:srgbClr val="05080F"/>
            </a:solidFill>
            <a:prstDash val="solid"/>
          </a:ln>
        </p:spPr>
      </p:sp>
      <p:sp>
        <p:nvSpPr>
          <p:cNvPr id="14" name="Shape 11"/>
          <p:cNvSpPr/>
          <p:nvPr/>
        </p:nvSpPr>
        <p:spPr>
          <a:xfrm>
            <a:off x="6263640" y="3877056"/>
            <a:ext cx="1417320" cy="475488"/>
          </a:xfrm>
          <a:prstGeom prst="roundRect">
            <a:avLst>
              <a:gd name="adj" fmla="val 50000"/>
            </a:avLst>
          </a:prstGeom>
          <a:solidFill>
            <a:srgbClr val="5FFA74"/>
          </a:solidFill>
          <a:ln/>
        </p:spPr>
      </p:sp>
      <p:sp>
        <p:nvSpPr>
          <p:cNvPr id="15" name="Text 12"/>
          <p:cNvSpPr/>
          <p:nvPr/>
        </p:nvSpPr>
        <p:spPr>
          <a:xfrm>
            <a:off x="6263640" y="3877056"/>
            <a:ext cx="1417320" cy="475488"/>
          </a:xfrm>
          <a:prstGeom prst="rect">
            <a:avLst/>
          </a:prstGeom>
          <a:noFill/>
          <a:ln/>
        </p:spPr>
        <p:txBody>
          <a:bodyPr wrap="square" lIns="0" tIns="0" rIns="0" bIns="0" rtlCol="0" anchor="ctr"/>
          <a:lstStyle/>
          <a:p>
            <a:pPr algn="ctr" indent="0" marL="0">
              <a:buNone/>
            </a:pPr>
            <a:r>
              <a:rPr lang="en-US" sz="1500" b="1" spc="100" kern="0" dirty="0">
                <a:solidFill>
                  <a:srgbClr val="05080F"/>
                </a:solidFill>
                <a:latin typeface="Arial" pitchFamily="34" charset="0"/>
                <a:ea typeface="Arial" pitchFamily="34" charset="-122"/>
                <a:cs typeface="Arial" pitchFamily="34" charset="-120"/>
              </a:rPr>
              <a:t>AIVEN</a:t>
            </a:r>
            <a:endParaRPr lang="en-US" sz="1500" dirty="0"/>
          </a:p>
        </p:txBody>
      </p:sp>
      <p:sp>
        <p:nvSpPr>
          <p:cNvPr id="16" name="Text 13"/>
          <p:cNvSpPr/>
          <p:nvPr/>
        </p:nvSpPr>
        <p:spPr>
          <a:xfrm>
            <a:off x="548640" y="4759452"/>
            <a:ext cx="8046720" cy="256032"/>
          </a:xfrm>
          <a:prstGeom prst="rect">
            <a:avLst/>
          </a:prstGeom>
          <a:noFill/>
          <a:ln/>
        </p:spPr>
        <p:txBody>
          <a:bodyPr wrap="square" lIns="0" tIns="0" rIns="0" bIns="0" rtlCol="0" anchor="ctr"/>
          <a:lstStyle/>
          <a:p>
            <a:pPr indent="0" marL="0">
              <a:buNone/>
            </a:pPr>
            <a:r>
              <a:rPr lang="en-US" sz="950" spc="100" kern="0" dirty="0">
                <a:solidFill>
                  <a:srgbClr val="8C919A"/>
                </a:solidFill>
                <a:latin typeface="Courier New" pitchFamily="34" charset="0"/>
                <a:ea typeface="Courier New" pitchFamily="34" charset="-122"/>
                <a:cs typeface="Courier New" pitchFamily="34" charset="-120"/>
              </a:rPr>
              <a:t>Aiven challenge · Sunstead Hack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Switchboard — Vibe Deploy</dc:title>
  <dc:subject>PptxGenJS Presentation</dc:subject>
  <dc:creator>Samu</dc:creator>
  <cp:lastModifiedBy>Samu</cp:lastModifiedBy>
  <cp:revision>1</cp:revision>
  <dcterms:created xsi:type="dcterms:W3CDTF">2026-06-25T12:12:32Z</dcterms:created>
  <dcterms:modified xsi:type="dcterms:W3CDTF">2026-06-25T12:12:32Z</dcterms:modified>
</cp:coreProperties>
</file>